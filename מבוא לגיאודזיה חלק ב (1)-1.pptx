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>
  <p:sldMasterIdLst>
    <p:sldMasterId id="2147483689" r:id="rId1"/>
  </p:sldMasterIdLst>
  <p:notesMasterIdLst>
    <p:notesMasterId r:id="rId24"/>
  </p:notesMasterIdLst>
  <p:sldIdLst>
    <p:sldId id="256" r:id="rId2"/>
    <p:sldId id="339" r:id="rId3"/>
    <p:sldId id="275" r:id="rId4"/>
    <p:sldId id="276" r:id="rId5"/>
    <p:sldId id="277" r:id="rId6"/>
    <p:sldId id="278" r:id="rId7"/>
    <p:sldId id="279" r:id="rId8"/>
    <p:sldId id="280" r:id="rId9"/>
    <p:sldId id="341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91" r:id="rId18"/>
    <p:sldId id="293" r:id="rId19"/>
    <p:sldId id="294" r:id="rId20"/>
    <p:sldId id="295" r:id="rId21"/>
    <p:sldId id="340" r:id="rId22"/>
    <p:sldId id="296" r:id="rId23"/>
  </p:sldIdLst>
  <p:sldSz cx="12192000" cy="6858000"/>
  <p:notesSz cx="6858000" cy="9144000"/>
  <p:embeddedFontLst>
    <p:embeddedFont>
      <p:font typeface="Adobe Gothic Std B" panose="020B0800000000000000" charset="-128"/>
      <p:bold r:id="rId25"/>
    </p:embeddedFont>
    <p:embeddedFont>
      <p:font typeface="Arial Black" panose="020B0604020202020204" pitchFamily="34" charset="0"/>
      <p:bold r:id="rId26"/>
      <p:italic r:id="rId27"/>
    </p:embeddedFont>
    <p:embeddedFont>
      <p:font typeface="Articulate" panose="020B0604020202020204" pitchFamily="34" charset="0"/>
      <p:regular r:id="rId28"/>
      <p:bold r:id="rId29"/>
      <p:italic r:id="rId30"/>
      <p:boldItalic r:id="rId31"/>
    </p:embeddedFont>
    <p:embeddedFont>
      <p:font typeface="Assistant" pitchFamily="2" charset="-79"/>
      <p:regular r:id="rId32"/>
      <p:bold r:id="rId33"/>
    </p:embeddedFont>
    <p:embeddedFont>
      <p:font typeface="Assistant ExtraBold" pitchFamily="2" charset="-79"/>
      <p:bold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David" panose="020E0502060401010101" pitchFamily="34" charset="-79"/>
      <p:regular r:id="rId39"/>
      <p:bold r:id="rId40"/>
    </p:embeddedFont>
    <p:embeddedFont>
      <p:font typeface="Segoe UI Semilight" panose="020B0402040204020203" pitchFamily="34" charset="0"/>
      <p:regular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00" autoAdjust="0"/>
    <p:restoredTop sz="89006" autoAdjust="0"/>
  </p:normalViewPr>
  <p:slideViewPr>
    <p:cSldViewPr snapToGrid="0">
      <p:cViewPr varScale="1">
        <p:scale>
          <a:sx n="68" d="100"/>
          <a:sy n="6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font" Target="fonts/font2.fntdata" /><Relationship Id="rId39" Type="http://schemas.openxmlformats.org/officeDocument/2006/relationships/font" Target="fonts/font15.fntdata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font" Target="fonts/font10.fntdata" /><Relationship Id="rId42" Type="http://schemas.openxmlformats.org/officeDocument/2006/relationships/font" Target="fonts/font18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1.fntdata" /><Relationship Id="rId33" Type="http://schemas.openxmlformats.org/officeDocument/2006/relationships/font" Target="fonts/font9.fntdata" /><Relationship Id="rId38" Type="http://schemas.openxmlformats.org/officeDocument/2006/relationships/font" Target="fonts/font14.fntdata" /><Relationship Id="rId46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font" Target="fonts/font5.fntdata" /><Relationship Id="rId41" Type="http://schemas.openxmlformats.org/officeDocument/2006/relationships/font" Target="fonts/font17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notesMaster" Target="notesMasters/notesMaster1.xml" /><Relationship Id="rId32" Type="http://schemas.openxmlformats.org/officeDocument/2006/relationships/font" Target="fonts/font8.fntdata" /><Relationship Id="rId37" Type="http://schemas.openxmlformats.org/officeDocument/2006/relationships/font" Target="fonts/font13.fntdata" /><Relationship Id="rId40" Type="http://schemas.openxmlformats.org/officeDocument/2006/relationships/font" Target="fonts/font16.fntdata" /><Relationship Id="rId45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font" Target="fonts/font4.fntdata" /><Relationship Id="rId36" Type="http://schemas.openxmlformats.org/officeDocument/2006/relationships/font" Target="fonts/font12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font" Target="fonts/font7.fntdata" /><Relationship Id="rId44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font" Target="fonts/font3.fntdata" /><Relationship Id="rId30" Type="http://schemas.openxmlformats.org/officeDocument/2006/relationships/font" Target="fonts/font6.fntdata" /><Relationship Id="rId35" Type="http://schemas.openxmlformats.org/officeDocument/2006/relationships/font" Target="fonts/font11.fntdata" /><Relationship Id="rId4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8BDAC508-92F1-4E05-9C56-BB16028EDA5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36F0EE2D-F9F8-4ECE-AF0B-F78FB1EF2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1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7189723225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7189723225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214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0EE2D-F9F8-4ECE-AF0B-F78FB1EF24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55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7189723225_0_6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7189723225_0_6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080233" y="5209500"/>
            <a:ext cx="3454800" cy="345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2424000" y="5344967"/>
            <a:ext cx="3454800" cy="34548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>
            <a:off x="10828900" y="0"/>
            <a:ext cx="3454800" cy="345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10674233" y="-361433"/>
            <a:ext cx="3454800" cy="34548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 rot="-8100000">
            <a:off x="8872767" y="-3093547"/>
            <a:ext cx="137461" cy="5826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" name="Google Shape;14;p2"/>
          <p:cNvCxnSpPr/>
          <p:nvPr/>
        </p:nvCxnSpPr>
        <p:spPr>
          <a:xfrm rot="10800000" flipH="1">
            <a:off x="7511633" y="-979867"/>
            <a:ext cx="2698400" cy="26128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5;p2"/>
          <p:cNvSpPr/>
          <p:nvPr/>
        </p:nvSpPr>
        <p:spPr>
          <a:xfrm rot="2700000">
            <a:off x="9455768" y="5469422"/>
            <a:ext cx="137461" cy="261855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6" name="Google Shape;16;p2"/>
          <p:cNvCxnSpPr/>
          <p:nvPr/>
        </p:nvCxnSpPr>
        <p:spPr>
          <a:xfrm rot="10800000" flipH="1">
            <a:off x="8680433" y="5344967"/>
            <a:ext cx="2698400" cy="26128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2"/>
          <p:cNvSpPr/>
          <p:nvPr/>
        </p:nvSpPr>
        <p:spPr>
          <a:xfrm>
            <a:off x="-1374700" y="-1151733"/>
            <a:ext cx="7091600" cy="67032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9;p2"/>
          <p:cNvSpPr/>
          <p:nvPr/>
        </p:nvSpPr>
        <p:spPr>
          <a:xfrm>
            <a:off x="-1124303" y="-891234"/>
            <a:ext cx="5840236" cy="58402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154;p24"/>
          <p:cNvSpPr/>
          <p:nvPr/>
        </p:nvSpPr>
        <p:spPr>
          <a:xfrm>
            <a:off x="8291644" y="5267122"/>
            <a:ext cx="4292833" cy="85415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214313" dist="95250" dir="5400000" algn="bl" rotWithShape="0">
              <a:schemeClr val="accent2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3200"/>
          </a:p>
        </p:txBody>
      </p:sp>
      <p:sp>
        <p:nvSpPr>
          <p:cNvPr id="21" name="Google Shape;163;p25">
            <a:extLst>
              <a:ext uri="{FF2B5EF4-FFF2-40B4-BE49-F238E27FC236}">
                <a16:creationId xmlns:a16="http://schemas.microsoft.com/office/drawing/2014/main" id="{14AB6F89-2423-4110-B998-E4723733F291}"/>
              </a:ext>
            </a:extLst>
          </p:cNvPr>
          <p:cNvSpPr txBox="1">
            <a:spLocks/>
          </p:cNvSpPr>
          <p:nvPr/>
        </p:nvSpPr>
        <p:spPr>
          <a:xfrm>
            <a:off x="8453544" y="5332004"/>
            <a:ext cx="3738457" cy="618145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קורס </a:t>
            </a:r>
            <a:r>
              <a:rPr lang="he-IL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מג"א</a:t>
            </a:r>
            <a:r>
              <a:rPr lang="he-IL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\ גיאודזיה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2" name="Google Shape;163;p25">
            <a:extLst>
              <a:ext uri="{FF2B5EF4-FFF2-40B4-BE49-F238E27FC236}">
                <a16:creationId xmlns:a16="http://schemas.microsoft.com/office/drawing/2014/main" id="{D058B993-C82B-44FD-AF3D-F72A0D2800A3}"/>
              </a:ext>
            </a:extLst>
          </p:cNvPr>
          <p:cNvSpPr txBox="1">
            <a:spLocks/>
          </p:cNvSpPr>
          <p:nvPr/>
        </p:nvSpPr>
        <p:spPr>
          <a:xfrm>
            <a:off x="4490359" y="1"/>
            <a:ext cx="3211283" cy="587428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1867" b="1" dirty="0">
                <a:latin typeface="Assistant" panose="00000500000000000000" pitchFamily="2" charset="-79"/>
                <a:cs typeface="Assistant" panose="00000500000000000000" pitchFamily="2" charset="-79"/>
              </a:rPr>
              <a:t>-סיווג-</a:t>
            </a:r>
            <a:endParaRPr lang="en-US" sz="1867" b="1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29BAB69-103A-4066-B374-A537F5B7B7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149" y="2096574"/>
            <a:ext cx="11315700" cy="1517649"/>
          </a:xfrm>
          <a:prstGeom prst="rect">
            <a:avLst/>
          </a:prstGeom>
        </p:spPr>
        <p:txBody>
          <a:bodyPr/>
          <a:lstStyle>
            <a:lvl1pPr algn="ctr">
              <a:defRPr sz="6400" b="1"/>
            </a:lvl1pPr>
          </a:lstStyle>
          <a:p>
            <a:pPr lvl="0"/>
            <a:r>
              <a:rPr lang="he-IL" dirty="0"/>
              <a:t>נושא המצגת</a:t>
            </a:r>
          </a:p>
        </p:txBody>
      </p:sp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2B1217E7-7306-47FE-9EEF-7FB41379AF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151" y="3615267"/>
            <a:ext cx="11315700" cy="1130300"/>
          </a:xfrm>
          <a:prstGeom prst="rect">
            <a:avLst/>
          </a:prstGeom>
        </p:spPr>
        <p:txBody>
          <a:bodyPr/>
          <a:lstStyle>
            <a:lvl1pPr algn="ctr" rtl="1">
              <a:defRPr sz="2667">
                <a:cs typeface="+mn-cs"/>
              </a:defRPr>
            </a:lvl1pPr>
            <a:lvl2pPr algn="ctr">
              <a:defRPr sz="2667">
                <a:cs typeface="+mn-cs"/>
              </a:defRPr>
            </a:lvl2pPr>
            <a:lvl3pPr algn="ctr">
              <a:defRPr sz="2667">
                <a:cs typeface="+mn-cs"/>
              </a:defRPr>
            </a:lvl3pPr>
            <a:lvl4pPr algn="ctr">
              <a:defRPr sz="2667">
                <a:cs typeface="+mn-cs"/>
              </a:defRPr>
            </a:lvl4pPr>
            <a:lvl5pPr algn="ctr">
              <a:defRPr sz="2667">
                <a:cs typeface="+mn-cs"/>
              </a:defRPr>
            </a:lvl5pPr>
          </a:lstStyle>
          <a:p>
            <a:pPr rtl="1"/>
            <a:r>
              <a:rPr lang="he-IL" sz="2667" dirty="0">
                <a:latin typeface="Assistant" panose="00000500000000000000" pitchFamily="2" charset="-79"/>
                <a:cs typeface="Assistant" panose="00000500000000000000" pitchFamily="2" charset="-79"/>
              </a:rPr>
              <a:t>תאריך</a:t>
            </a:r>
          </a:p>
          <a:p>
            <a:pPr rtl="1"/>
            <a:r>
              <a:rPr lang="en-US" sz="2667" dirty="0">
                <a:latin typeface="Assistant" panose="00000500000000000000" pitchFamily="2" charset="-79"/>
                <a:cs typeface="Assistant" panose="00000500000000000000" pitchFamily="2" charset="-79"/>
              </a:rPr>
              <a:t>XX\XX\XX</a:t>
            </a:r>
            <a:endParaRPr lang="he-IL" dirty="0"/>
          </a:p>
          <a:p>
            <a:pPr lvl="4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6981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1_One column 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 rot="10800000">
            <a:off x="-329709" y="-1055069"/>
            <a:ext cx="2776400" cy="277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" name="Google Shape;56;p7"/>
          <p:cNvSpPr/>
          <p:nvPr/>
        </p:nvSpPr>
        <p:spPr>
          <a:xfrm rot="10800000">
            <a:off x="-605967" y="-1163933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57;p7"/>
          <p:cNvSpPr/>
          <p:nvPr/>
        </p:nvSpPr>
        <p:spPr>
          <a:xfrm rot="2700000">
            <a:off x="9455768" y="5469422"/>
            <a:ext cx="137461" cy="261855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8" name="Google Shape;58;p7"/>
          <p:cNvCxnSpPr/>
          <p:nvPr/>
        </p:nvCxnSpPr>
        <p:spPr>
          <a:xfrm rot="10800000" flipH="1">
            <a:off x="8680433" y="5344967"/>
            <a:ext cx="2698400" cy="26128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7"/>
          <p:cNvSpPr/>
          <p:nvPr/>
        </p:nvSpPr>
        <p:spPr>
          <a:xfrm rot="10800000">
            <a:off x="-2153167" y="4298867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54;p24">
            <a:extLst>
              <a:ext uri="{FF2B5EF4-FFF2-40B4-BE49-F238E27FC236}">
                <a16:creationId xmlns:a16="http://schemas.microsoft.com/office/drawing/2014/main" id="{AB057EE3-1AAD-4A03-842F-9C376722569C}"/>
              </a:ext>
            </a:extLst>
          </p:cNvPr>
          <p:cNvSpPr/>
          <p:nvPr/>
        </p:nvSpPr>
        <p:spPr>
          <a:xfrm>
            <a:off x="8999615" y="867395"/>
            <a:ext cx="3021455" cy="655659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214313" dist="95250" dir="5400000" algn="bl" rotWithShape="0">
              <a:schemeClr val="accent2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4" name="Google Shape;163;p25">
            <a:extLst>
              <a:ext uri="{FF2B5EF4-FFF2-40B4-BE49-F238E27FC236}">
                <a16:creationId xmlns:a16="http://schemas.microsoft.com/office/drawing/2014/main" id="{2A4AEA26-F588-4D34-84C6-D992CAB2D9A0}"/>
              </a:ext>
            </a:extLst>
          </p:cNvPr>
          <p:cNvSpPr txBox="1">
            <a:spLocks/>
          </p:cNvSpPr>
          <p:nvPr/>
        </p:nvSpPr>
        <p:spPr>
          <a:xfrm>
            <a:off x="8478928" y="882141"/>
            <a:ext cx="3145323" cy="575363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667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מטרות היחידה</a:t>
            </a:r>
            <a:endParaRPr lang="en-US" sz="2667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5" name="Google Shape;154;p24">
            <a:extLst>
              <a:ext uri="{FF2B5EF4-FFF2-40B4-BE49-F238E27FC236}">
                <a16:creationId xmlns:a16="http://schemas.microsoft.com/office/drawing/2014/main" id="{C9D4CE3B-0A7A-47AB-8A77-313731A33E98}"/>
              </a:ext>
            </a:extLst>
          </p:cNvPr>
          <p:cNvSpPr/>
          <p:nvPr/>
        </p:nvSpPr>
        <p:spPr>
          <a:xfrm>
            <a:off x="10448873" y="1919182"/>
            <a:ext cx="377572" cy="377572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r>
              <a:rPr lang="he-IL" sz="2400" dirty="0">
                <a:solidFill>
                  <a:schemeClr val="bg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1</a:t>
            </a:r>
            <a:endParaRPr sz="2400" dirty="0">
              <a:solidFill>
                <a:schemeClr val="bg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6" name="Google Shape;154;p24">
            <a:extLst>
              <a:ext uri="{FF2B5EF4-FFF2-40B4-BE49-F238E27FC236}">
                <a16:creationId xmlns:a16="http://schemas.microsoft.com/office/drawing/2014/main" id="{46801C1B-15AB-4529-99B1-6C0CC917CADB}"/>
              </a:ext>
            </a:extLst>
          </p:cNvPr>
          <p:cNvSpPr/>
          <p:nvPr/>
        </p:nvSpPr>
        <p:spPr>
          <a:xfrm>
            <a:off x="10448871" y="2494545"/>
            <a:ext cx="377572" cy="377572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r>
              <a:rPr lang="he-IL" sz="2400" dirty="0">
                <a:solidFill>
                  <a:schemeClr val="bg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2</a:t>
            </a:r>
            <a:endParaRPr sz="2400" dirty="0">
              <a:solidFill>
                <a:schemeClr val="bg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17" name="Google Shape;154;p24">
            <a:extLst>
              <a:ext uri="{FF2B5EF4-FFF2-40B4-BE49-F238E27FC236}">
                <a16:creationId xmlns:a16="http://schemas.microsoft.com/office/drawing/2014/main" id="{1E9366EC-592A-4382-993F-1A63DB19DA3D}"/>
              </a:ext>
            </a:extLst>
          </p:cNvPr>
          <p:cNvSpPr/>
          <p:nvPr/>
        </p:nvSpPr>
        <p:spPr>
          <a:xfrm>
            <a:off x="10448871" y="3079893"/>
            <a:ext cx="377572" cy="377572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r>
              <a:rPr lang="he-IL" sz="2400" dirty="0">
                <a:solidFill>
                  <a:schemeClr val="bg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3</a:t>
            </a:r>
            <a:endParaRPr sz="2400" dirty="0">
              <a:solidFill>
                <a:schemeClr val="bg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21" name="Google Shape;169;p26">
            <a:extLst>
              <a:ext uri="{FF2B5EF4-FFF2-40B4-BE49-F238E27FC236}">
                <a16:creationId xmlns:a16="http://schemas.microsoft.com/office/drawing/2014/main" id="{10C45933-EB83-4E89-8DEB-54486A0868F6}"/>
              </a:ext>
            </a:extLst>
          </p:cNvPr>
          <p:cNvSpPr/>
          <p:nvPr/>
        </p:nvSpPr>
        <p:spPr>
          <a:xfrm>
            <a:off x="1145790" y="4405608"/>
            <a:ext cx="4422057" cy="20358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400" dirty="0"/>
          </a:p>
        </p:txBody>
      </p:sp>
      <p:sp>
        <p:nvSpPr>
          <p:cNvPr id="22" name="Google Shape;154;p24">
            <a:extLst>
              <a:ext uri="{FF2B5EF4-FFF2-40B4-BE49-F238E27FC236}">
                <a16:creationId xmlns:a16="http://schemas.microsoft.com/office/drawing/2014/main" id="{5EDBCEFA-F239-4C74-8A21-31742949869E}"/>
              </a:ext>
            </a:extLst>
          </p:cNvPr>
          <p:cNvSpPr/>
          <p:nvPr/>
        </p:nvSpPr>
        <p:spPr>
          <a:xfrm>
            <a:off x="3296931" y="4184899"/>
            <a:ext cx="2470279" cy="46897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214313" dist="95250" dir="5400000" algn="bl" rotWithShape="0">
              <a:schemeClr val="accent6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23" name="Google Shape;163;p25">
            <a:extLst>
              <a:ext uri="{FF2B5EF4-FFF2-40B4-BE49-F238E27FC236}">
                <a16:creationId xmlns:a16="http://schemas.microsoft.com/office/drawing/2014/main" id="{16336513-DFDE-4350-9A74-0BC5B7FB90FF}"/>
              </a:ext>
            </a:extLst>
          </p:cNvPr>
          <p:cNvSpPr txBox="1">
            <a:spLocks/>
          </p:cNvSpPr>
          <p:nvPr/>
        </p:nvSpPr>
        <p:spPr>
          <a:xfrm>
            <a:off x="3178247" y="4117928"/>
            <a:ext cx="2467309" cy="575363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667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מטלה מסכמת</a:t>
            </a:r>
            <a:endParaRPr lang="en-US" sz="2667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5" name="Google Shape;169;p26">
            <a:extLst>
              <a:ext uri="{FF2B5EF4-FFF2-40B4-BE49-F238E27FC236}">
                <a16:creationId xmlns:a16="http://schemas.microsoft.com/office/drawing/2014/main" id="{E033B874-3241-41EC-A0F2-F7EE34FA22BC}"/>
              </a:ext>
            </a:extLst>
          </p:cNvPr>
          <p:cNvSpPr/>
          <p:nvPr/>
        </p:nvSpPr>
        <p:spPr>
          <a:xfrm>
            <a:off x="1145790" y="1039802"/>
            <a:ext cx="4422057" cy="287176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4">
                <a:lumMod val="75000"/>
              </a:schemeClr>
            </a:solidFill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400"/>
          </a:p>
        </p:txBody>
      </p: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2BA24F46-D626-47A4-88BC-5DC54DA3335A}"/>
              </a:ext>
            </a:extLst>
          </p:cNvPr>
          <p:cNvGrpSpPr/>
          <p:nvPr/>
        </p:nvGrpSpPr>
        <p:grpSpPr>
          <a:xfrm>
            <a:off x="3098337" y="1246159"/>
            <a:ext cx="516959" cy="516292"/>
            <a:chOff x="3524241" y="968598"/>
            <a:chExt cx="340608" cy="340168"/>
          </a:xfrm>
          <a:solidFill>
            <a:schemeClr val="accent4">
              <a:lumMod val="75000"/>
            </a:schemeClr>
          </a:solidFill>
        </p:grpSpPr>
        <p:sp>
          <p:nvSpPr>
            <p:cNvPr id="28" name="Google Shape;11097;p64">
              <a:extLst>
                <a:ext uri="{FF2B5EF4-FFF2-40B4-BE49-F238E27FC236}">
                  <a16:creationId xmlns:a16="http://schemas.microsoft.com/office/drawing/2014/main" id="{0D2F2C4F-7CD9-4BF2-8397-6CAF93B5FD2E}"/>
                </a:ext>
              </a:extLst>
            </p:cNvPr>
            <p:cNvSpPr/>
            <p:nvPr/>
          </p:nvSpPr>
          <p:spPr>
            <a:xfrm>
              <a:off x="3684388" y="1008450"/>
              <a:ext cx="89685" cy="89667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  <p:sp>
          <p:nvSpPr>
            <p:cNvPr id="29" name="Google Shape;11098;p64">
              <a:extLst>
                <a:ext uri="{FF2B5EF4-FFF2-40B4-BE49-F238E27FC236}">
                  <a16:creationId xmlns:a16="http://schemas.microsoft.com/office/drawing/2014/main" id="{8A78CB2A-8F21-4163-811F-66CCF74B8945}"/>
                </a:ext>
              </a:extLst>
            </p:cNvPr>
            <p:cNvSpPr/>
            <p:nvPr/>
          </p:nvSpPr>
          <p:spPr>
            <a:xfrm>
              <a:off x="3569374" y="968598"/>
              <a:ext cx="259601" cy="340168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  <p:sp>
          <p:nvSpPr>
            <p:cNvPr id="30" name="Google Shape;11099;p64">
              <a:extLst>
                <a:ext uri="{FF2B5EF4-FFF2-40B4-BE49-F238E27FC236}">
                  <a16:creationId xmlns:a16="http://schemas.microsoft.com/office/drawing/2014/main" id="{E9FBE400-737A-4390-AF54-82855FF80576}"/>
                </a:ext>
              </a:extLst>
            </p:cNvPr>
            <p:cNvSpPr/>
            <p:nvPr/>
          </p:nvSpPr>
          <p:spPr>
            <a:xfrm>
              <a:off x="3524241" y="1088172"/>
              <a:ext cx="39887" cy="19944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  <p:sp>
          <p:nvSpPr>
            <p:cNvPr id="31" name="Google Shape;11100;p64">
              <a:extLst>
                <a:ext uri="{FF2B5EF4-FFF2-40B4-BE49-F238E27FC236}">
                  <a16:creationId xmlns:a16="http://schemas.microsoft.com/office/drawing/2014/main" id="{EF8129D7-45C7-4618-A20A-716B83D0CD84}"/>
                </a:ext>
              </a:extLst>
            </p:cNvPr>
            <p:cNvSpPr/>
            <p:nvPr/>
          </p:nvSpPr>
          <p:spPr>
            <a:xfrm>
              <a:off x="3526318" y="1021441"/>
              <a:ext cx="35733" cy="33814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  <p:sp>
          <p:nvSpPr>
            <p:cNvPr id="32" name="Google Shape;11101;p64">
              <a:extLst>
                <a:ext uri="{FF2B5EF4-FFF2-40B4-BE49-F238E27FC236}">
                  <a16:creationId xmlns:a16="http://schemas.microsoft.com/office/drawing/2014/main" id="{75FF024B-E74E-4B29-A2D0-6AC90E9B159D}"/>
                </a:ext>
              </a:extLst>
            </p:cNvPr>
            <p:cNvSpPr/>
            <p:nvPr/>
          </p:nvSpPr>
          <p:spPr>
            <a:xfrm>
              <a:off x="3526001" y="1141032"/>
              <a:ext cx="36050" cy="34043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  <p:sp>
          <p:nvSpPr>
            <p:cNvPr id="33" name="Google Shape;11102;p64">
              <a:extLst>
                <a:ext uri="{FF2B5EF4-FFF2-40B4-BE49-F238E27FC236}">
                  <a16:creationId xmlns:a16="http://schemas.microsoft.com/office/drawing/2014/main" id="{3136FE7B-C67D-4EB5-9D3C-5F36D1537A23}"/>
                </a:ext>
              </a:extLst>
            </p:cNvPr>
            <p:cNvSpPr/>
            <p:nvPr/>
          </p:nvSpPr>
          <p:spPr>
            <a:xfrm>
              <a:off x="3824539" y="1088172"/>
              <a:ext cx="39887" cy="19944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  <p:sp>
          <p:nvSpPr>
            <p:cNvPr id="34" name="Google Shape;11103;p64">
              <a:extLst>
                <a:ext uri="{FF2B5EF4-FFF2-40B4-BE49-F238E27FC236}">
                  <a16:creationId xmlns:a16="http://schemas.microsoft.com/office/drawing/2014/main" id="{AEDBF76E-476B-4435-BDE2-76A567BA984E}"/>
                </a:ext>
              </a:extLst>
            </p:cNvPr>
            <p:cNvSpPr/>
            <p:nvPr/>
          </p:nvSpPr>
          <p:spPr>
            <a:xfrm>
              <a:off x="3824117" y="1021441"/>
              <a:ext cx="38233" cy="3395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  <p:sp>
          <p:nvSpPr>
            <p:cNvPr id="35" name="Google Shape;11104;p64">
              <a:extLst>
                <a:ext uri="{FF2B5EF4-FFF2-40B4-BE49-F238E27FC236}">
                  <a16:creationId xmlns:a16="http://schemas.microsoft.com/office/drawing/2014/main" id="{FA66CADC-1C91-4B4D-9734-68CA9A21E10F}"/>
                </a:ext>
              </a:extLst>
            </p:cNvPr>
            <p:cNvSpPr/>
            <p:nvPr/>
          </p:nvSpPr>
          <p:spPr>
            <a:xfrm>
              <a:off x="3826616" y="1141032"/>
              <a:ext cx="38233" cy="3395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435D74"/>
                </a:solidFill>
              </a:endParaRPr>
            </a:p>
          </p:txBody>
        </p:sp>
      </p:grpSp>
      <p:sp>
        <p:nvSpPr>
          <p:cNvPr id="36" name="Google Shape;163;p25">
            <a:extLst>
              <a:ext uri="{FF2B5EF4-FFF2-40B4-BE49-F238E27FC236}">
                <a16:creationId xmlns:a16="http://schemas.microsoft.com/office/drawing/2014/main" id="{C9C3B15B-8962-4FFC-BD52-811F071796E2}"/>
              </a:ext>
            </a:extLst>
          </p:cNvPr>
          <p:cNvSpPr txBox="1">
            <a:spLocks/>
          </p:cNvSpPr>
          <p:nvPr/>
        </p:nvSpPr>
        <p:spPr>
          <a:xfrm>
            <a:off x="4490359" y="1"/>
            <a:ext cx="3211283" cy="587428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1867" b="1" dirty="0">
                <a:latin typeface="Assistant" panose="00000500000000000000" pitchFamily="2" charset="-79"/>
                <a:cs typeface="Assistant" panose="00000500000000000000" pitchFamily="2" charset="-79"/>
              </a:rPr>
              <a:t>-סיווג-</a:t>
            </a:r>
            <a:endParaRPr lang="en-US" sz="1867" b="1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478318B-B153-4622-93C1-B794E632DE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3215" y="1875239"/>
            <a:ext cx="3987205" cy="974560"/>
          </a:xfrm>
          <a:prstGeom prst="rect">
            <a:avLst/>
          </a:prstGeom>
        </p:spPr>
        <p:txBody>
          <a:bodyPr/>
          <a:lstStyle>
            <a:lvl1pPr algn="ctr" rtl="1">
              <a:lnSpc>
                <a:spcPct val="100000"/>
              </a:lnSpc>
              <a:defRPr sz="2133"/>
            </a:lvl1pPr>
            <a:lvl5pPr algn="ctr" rtl="1">
              <a:defRPr/>
            </a:lvl5pPr>
          </a:lstStyle>
          <a:p>
            <a:pPr rtl="0">
              <a:lnSpc>
                <a:spcPct val="100000"/>
              </a:lnSpc>
            </a:pPr>
            <a:r>
              <a:rPr lang="he-IL" sz="2133" b="1" dirty="0">
                <a:latin typeface="Assistant" panose="00000500000000000000" pitchFamily="2" charset="-79"/>
                <a:cs typeface="Assistant" panose="00000500000000000000" pitchFamily="2" charset="-79"/>
              </a:rPr>
              <a:t>פירוט- </a:t>
            </a:r>
            <a:r>
              <a:rPr lang="he-IL" sz="2133" dirty="0">
                <a:latin typeface="Assistant" panose="00000500000000000000" pitchFamily="2" charset="-79"/>
                <a:cs typeface="Assistant" panose="00000500000000000000" pitchFamily="2" charset="-79"/>
              </a:rPr>
              <a:t>באיזה תוכן המצגת עוסקת</a:t>
            </a:r>
          </a:p>
          <a:p>
            <a:pPr lvl="4"/>
            <a:endParaRPr lang="he-IL" dirty="0"/>
          </a:p>
        </p:txBody>
      </p:sp>
      <p:sp>
        <p:nvSpPr>
          <p:cNvPr id="9" name="מציין מיקום טקסט 8">
            <a:extLst>
              <a:ext uri="{FF2B5EF4-FFF2-40B4-BE49-F238E27FC236}">
                <a16:creationId xmlns:a16="http://schemas.microsoft.com/office/drawing/2014/main" id="{56AAE2F9-FD46-43A7-A378-E15134C29E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11533" y="1747643"/>
            <a:ext cx="4421716" cy="1871372"/>
          </a:xfrm>
          <a:prstGeom prst="rect">
            <a:avLst/>
          </a:prstGeom>
        </p:spPr>
        <p:txBody>
          <a:bodyPr/>
          <a:lstStyle>
            <a:lvl1pPr algn="r" rtl="1">
              <a:lnSpc>
                <a:spcPct val="200000"/>
              </a:lnSpc>
              <a:defRPr sz="2400" b="1" i="0"/>
            </a:lvl1pPr>
          </a:lstStyle>
          <a:p>
            <a:pPr algn="r" rtl="0">
              <a:lnSpc>
                <a:spcPct val="150000"/>
              </a:lnSpc>
            </a:pPr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החניך יכיר...</a:t>
            </a:r>
          </a:p>
          <a:p>
            <a:pPr algn="r" rtl="0">
              <a:lnSpc>
                <a:spcPct val="150000"/>
              </a:lnSpc>
            </a:pPr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החניך יבין...</a:t>
            </a:r>
            <a:endParaRPr lang="en-US" sz="2400" b="1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0">
              <a:lnSpc>
                <a:spcPct val="150000"/>
              </a:lnSpc>
            </a:pPr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החניך יתנסה...</a:t>
            </a:r>
          </a:p>
        </p:txBody>
      </p:sp>
      <p:sp>
        <p:nvSpPr>
          <p:cNvPr id="11" name="Google Shape;169;p26">
            <a:extLst>
              <a:ext uri="{FF2B5EF4-FFF2-40B4-BE49-F238E27FC236}">
                <a16:creationId xmlns:a16="http://schemas.microsoft.com/office/drawing/2014/main" id="{F4CB242E-C6BB-41AC-8AD2-DA4E81FC6085}"/>
              </a:ext>
            </a:extLst>
          </p:cNvPr>
          <p:cNvSpPr/>
          <p:nvPr/>
        </p:nvSpPr>
        <p:spPr>
          <a:xfrm>
            <a:off x="6505188" y="4405608"/>
            <a:ext cx="4422057" cy="20358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44" name="מציין מיקום טקסט 4">
            <a:extLst>
              <a:ext uri="{FF2B5EF4-FFF2-40B4-BE49-F238E27FC236}">
                <a16:creationId xmlns:a16="http://schemas.microsoft.com/office/drawing/2014/main" id="{15316C77-4E21-4B58-9F28-1382CFF5D6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6831" y="4742064"/>
            <a:ext cx="3987205" cy="974560"/>
          </a:xfrm>
          <a:prstGeom prst="rect">
            <a:avLst/>
          </a:prstGeom>
        </p:spPr>
        <p:txBody>
          <a:bodyPr/>
          <a:lstStyle>
            <a:lvl1pPr algn="r" rtl="0">
              <a:lnSpc>
                <a:spcPct val="100000"/>
              </a:lnSpc>
              <a:defRPr sz="2133"/>
            </a:lvl1pPr>
            <a:lvl5pPr algn="ctr" rtl="1">
              <a:defRPr/>
            </a:lvl5pPr>
          </a:lstStyle>
          <a:p>
            <a:pPr algn="r" rtl="0">
              <a:lnSpc>
                <a:spcPct val="100000"/>
              </a:lnSpc>
            </a:pPr>
            <a:r>
              <a:rPr lang="he-IL" sz="2133" dirty="0">
                <a:latin typeface="Assistant" panose="00000500000000000000" pitchFamily="2" charset="-79"/>
                <a:cs typeface="Assistant" panose="00000500000000000000" pitchFamily="2" charset="-79"/>
              </a:rPr>
              <a:t>לפני השיעור צריך לבקש מהחניכים לקרוא פרקים </a:t>
            </a:r>
            <a:r>
              <a:rPr lang="he-IL" sz="2133" dirty="0" err="1">
                <a:latin typeface="Assistant" panose="00000500000000000000" pitchFamily="2" charset="-79"/>
                <a:cs typeface="Assistant" panose="00000500000000000000" pitchFamily="2" charset="-79"/>
              </a:rPr>
              <a:t>רלוונטים</a:t>
            </a:r>
            <a:r>
              <a:rPr lang="he-IL" sz="2133" dirty="0">
                <a:latin typeface="Assistant" panose="00000500000000000000" pitchFamily="2" charset="-79"/>
                <a:cs typeface="Assistant" panose="00000500000000000000" pitchFamily="2" charset="-79"/>
              </a:rPr>
              <a:t> בספר הקורס.</a:t>
            </a:r>
            <a:endParaRPr lang="en-US" sz="2133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4"/>
            <a:endParaRPr lang="he-IL" dirty="0"/>
          </a:p>
        </p:txBody>
      </p:sp>
      <p:sp>
        <p:nvSpPr>
          <p:cNvPr id="18" name="Google Shape;154;p24">
            <a:extLst>
              <a:ext uri="{FF2B5EF4-FFF2-40B4-BE49-F238E27FC236}">
                <a16:creationId xmlns:a16="http://schemas.microsoft.com/office/drawing/2014/main" id="{6BEEF94B-9BDC-471D-9D13-AA23FE3B01EA}"/>
              </a:ext>
            </a:extLst>
          </p:cNvPr>
          <p:cNvSpPr/>
          <p:nvPr/>
        </p:nvSpPr>
        <p:spPr>
          <a:xfrm>
            <a:off x="8999615" y="4184899"/>
            <a:ext cx="2126991" cy="46897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214313" dist="95250" dir="5400000" algn="bl" rotWithShape="0">
              <a:schemeClr val="accent6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9" name="Google Shape;163;p25">
            <a:extLst>
              <a:ext uri="{FF2B5EF4-FFF2-40B4-BE49-F238E27FC236}">
                <a16:creationId xmlns:a16="http://schemas.microsoft.com/office/drawing/2014/main" id="{E8DEA960-0792-4A0A-9E76-02FB28A853D5}"/>
              </a:ext>
            </a:extLst>
          </p:cNvPr>
          <p:cNvSpPr txBox="1">
            <a:spLocks/>
          </p:cNvSpPr>
          <p:nvPr/>
        </p:nvSpPr>
        <p:spPr>
          <a:xfrm>
            <a:off x="8537644" y="4117928"/>
            <a:ext cx="2467309" cy="575363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667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ע"ע מקדים</a:t>
            </a:r>
            <a:endParaRPr lang="en-US" sz="2667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5" name="מציין מיקום טקסט 4">
            <a:extLst>
              <a:ext uri="{FF2B5EF4-FFF2-40B4-BE49-F238E27FC236}">
                <a16:creationId xmlns:a16="http://schemas.microsoft.com/office/drawing/2014/main" id="{5CDECCFA-26DE-40A9-94E3-B3B3ABAB5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215" y="4742064"/>
            <a:ext cx="3987205" cy="974560"/>
          </a:xfrm>
          <a:prstGeom prst="rect">
            <a:avLst/>
          </a:prstGeom>
        </p:spPr>
        <p:txBody>
          <a:bodyPr/>
          <a:lstStyle>
            <a:lvl1pPr algn="r" rtl="0">
              <a:lnSpc>
                <a:spcPct val="100000"/>
              </a:lnSpc>
              <a:defRPr sz="2133"/>
            </a:lvl1pPr>
            <a:lvl5pPr algn="ctr" rtl="1">
              <a:defRPr/>
            </a:lvl5pPr>
          </a:lstStyle>
          <a:p>
            <a:pPr algn="r" rtl="0">
              <a:lnSpc>
                <a:spcPct val="100000"/>
              </a:lnSpc>
            </a:pPr>
            <a:r>
              <a:rPr lang="he-IL" sz="2133" dirty="0">
                <a:latin typeface="Assistant" panose="00000500000000000000" pitchFamily="2" charset="-79"/>
                <a:cs typeface="Assistant" panose="00000500000000000000" pitchFamily="2" charset="-79"/>
              </a:rPr>
              <a:t>לסיום החניך יתבקש...</a:t>
            </a:r>
            <a:endParaRPr lang="en-US" sz="2133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lvl="4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5056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 + Bullet Point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/>
        </p:nvSpPr>
        <p:spPr>
          <a:xfrm flipH="1">
            <a:off x="8803333" y="3178500"/>
            <a:ext cx="5670800" cy="536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>
            <a:off x="913400" y="1318200"/>
            <a:ext cx="9738800" cy="42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86262" lvl="0" indent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1415400" y="581867"/>
            <a:ext cx="9236800" cy="7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600"/>
              <a:buNone/>
              <a:defRPr sz="37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he-IL"/>
              <a:t>לחץ כדי לערוך סגנון כותרת של תבנית בסיס</a:t>
            </a:r>
            <a:endParaRPr dirty="0"/>
          </a:p>
        </p:txBody>
      </p:sp>
      <p:sp>
        <p:nvSpPr>
          <p:cNvPr id="94" name="Google Shape;94;p13"/>
          <p:cNvSpPr/>
          <p:nvPr/>
        </p:nvSpPr>
        <p:spPr>
          <a:xfrm flipH="1">
            <a:off x="11058833" y="-601000"/>
            <a:ext cx="5670800" cy="5360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331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913400" y="581867"/>
            <a:ext cx="6859200" cy="7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he-IL"/>
              <a:t>לחץ כדי לערוך סגנון כותרת של תבנית בסיס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 rot="10800000">
            <a:off x="-1206009" y="5805497"/>
            <a:ext cx="2776400" cy="277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5"/>
          <p:cNvSpPr/>
          <p:nvPr/>
        </p:nvSpPr>
        <p:spPr>
          <a:xfrm rot="10800000">
            <a:off x="-1482267" y="5696633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" name="קבוצה 1"/>
          <p:cNvGrpSpPr/>
          <p:nvPr/>
        </p:nvGrpSpPr>
        <p:grpSpPr>
          <a:xfrm flipH="1">
            <a:off x="182191" y="-870401"/>
            <a:ext cx="3163613" cy="2612800"/>
            <a:chOff x="7864199" y="-574675"/>
            <a:chExt cx="2372710" cy="1959600"/>
          </a:xfrm>
        </p:grpSpPr>
        <p:sp>
          <p:nvSpPr>
            <p:cNvPr id="125" name="Google Shape;125;p15"/>
            <p:cNvSpPr/>
            <p:nvPr/>
          </p:nvSpPr>
          <p:spPr>
            <a:xfrm rot="-8100000">
              <a:off x="9203402" y="-672335"/>
              <a:ext cx="103096" cy="196391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26" name="Google Shape;126;p15"/>
            <p:cNvCxnSpPr/>
            <p:nvPr/>
          </p:nvCxnSpPr>
          <p:spPr>
            <a:xfrm flipH="1">
              <a:off x="7864199" y="-574675"/>
              <a:ext cx="2023800" cy="19596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7" name="Google Shape;127;p15"/>
          <p:cNvSpPr/>
          <p:nvPr/>
        </p:nvSpPr>
        <p:spPr>
          <a:xfrm rot="10800000">
            <a:off x="-1538749" y="1805767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15"/>
          <p:cNvSpPr txBox="1">
            <a:spLocks noGrp="1"/>
          </p:cNvSpPr>
          <p:nvPr>
            <p:ph type="ctrTitle" idx="2"/>
          </p:nvPr>
        </p:nvSpPr>
        <p:spPr>
          <a:xfrm>
            <a:off x="1468917" y="4276767"/>
            <a:ext cx="2776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של תבנית בסיס</a:t>
            </a:r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subTitle" idx="1"/>
          </p:nvPr>
        </p:nvSpPr>
        <p:spPr>
          <a:xfrm>
            <a:off x="1468800" y="4807729"/>
            <a:ext cx="2776400" cy="11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ctrTitle" idx="3"/>
          </p:nvPr>
        </p:nvSpPr>
        <p:spPr>
          <a:xfrm>
            <a:off x="4707851" y="4276767"/>
            <a:ext cx="2776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של תבנית בסיס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ubTitle" idx="4"/>
          </p:nvPr>
        </p:nvSpPr>
        <p:spPr>
          <a:xfrm>
            <a:off x="4707733" y="4807729"/>
            <a:ext cx="2776400" cy="11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ctrTitle" idx="5"/>
          </p:nvPr>
        </p:nvSpPr>
        <p:spPr>
          <a:xfrm>
            <a:off x="7946784" y="4276767"/>
            <a:ext cx="2776400" cy="6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של תבנית בסיס</a:t>
            </a:r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subTitle" idx="6"/>
          </p:nvPr>
        </p:nvSpPr>
        <p:spPr>
          <a:xfrm>
            <a:off x="7946667" y="4807729"/>
            <a:ext cx="2776400" cy="11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  <a:endParaRPr/>
          </a:p>
        </p:txBody>
      </p:sp>
      <p:sp>
        <p:nvSpPr>
          <p:cNvPr id="15" name="Google Shape;127;p15"/>
          <p:cNvSpPr/>
          <p:nvPr/>
        </p:nvSpPr>
        <p:spPr>
          <a:xfrm rot="10800000">
            <a:off x="11693483" y="4281100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7599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 preserve="1">
  <p:cSld name="1_Title + Three Column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 rot="10800000">
            <a:off x="-1206009" y="5805497"/>
            <a:ext cx="2776400" cy="277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5"/>
          <p:cNvSpPr/>
          <p:nvPr/>
        </p:nvSpPr>
        <p:spPr>
          <a:xfrm rot="10800000">
            <a:off x="-1482267" y="5696633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" name="קבוצה 1"/>
          <p:cNvGrpSpPr/>
          <p:nvPr/>
        </p:nvGrpSpPr>
        <p:grpSpPr>
          <a:xfrm flipH="1">
            <a:off x="182191" y="-870401"/>
            <a:ext cx="3163613" cy="2612800"/>
            <a:chOff x="7864199" y="-574675"/>
            <a:chExt cx="2372710" cy="1959600"/>
          </a:xfrm>
        </p:grpSpPr>
        <p:sp>
          <p:nvSpPr>
            <p:cNvPr id="125" name="Google Shape;125;p15"/>
            <p:cNvSpPr/>
            <p:nvPr/>
          </p:nvSpPr>
          <p:spPr>
            <a:xfrm rot="-8100000">
              <a:off x="9203402" y="-672335"/>
              <a:ext cx="103096" cy="196391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26" name="Google Shape;126;p15"/>
            <p:cNvCxnSpPr/>
            <p:nvPr/>
          </p:nvCxnSpPr>
          <p:spPr>
            <a:xfrm flipH="1">
              <a:off x="7864199" y="-574675"/>
              <a:ext cx="2023800" cy="19596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7" name="Google Shape;127;p15"/>
          <p:cNvSpPr/>
          <p:nvPr/>
        </p:nvSpPr>
        <p:spPr>
          <a:xfrm rot="10800000">
            <a:off x="-1538749" y="1805767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27;p15"/>
          <p:cNvSpPr/>
          <p:nvPr/>
        </p:nvSpPr>
        <p:spPr>
          <a:xfrm rot="10800000">
            <a:off x="11693483" y="4281100"/>
            <a:ext cx="2776400" cy="2776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54;p24">
            <a:extLst>
              <a:ext uri="{FF2B5EF4-FFF2-40B4-BE49-F238E27FC236}">
                <a16:creationId xmlns:a16="http://schemas.microsoft.com/office/drawing/2014/main" id="{F708F69A-B0C6-4DFE-B07C-48BE5337BFDD}"/>
              </a:ext>
            </a:extLst>
          </p:cNvPr>
          <p:cNvSpPr/>
          <p:nvPr/>
        </p:nvSpPr>
        <p:spPr>
          <a:xfrm>
            <a:off x="556371" y="486131"/>
            <a:ext cx="2127912" cy="2733615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214313" dist="95250" dir="5400000" algn="bl" rotWithShape="0">
              <a:schemeClr val="accent2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133"/>
          </a:p>
        </p:txBody>
      </p:sp>
      <p:sp>
        <p:nvSpPr>
          <p:cNvPr id="17" name="Google Shape;154;p24">
            <a:extLst>
              <a:ext uri="{FF2B5EF4-FFF2-40B4-BE49-F238E27FC236}">
                <a16:creationId xmlns:a16="http://schemas.microsoft.com/office/drawing/2014/main" id="{8E6B7594-2441-40FF-8B43-440942C0B705}"/>
              </a:ext>
            </a:extLst>
          </p:cNvPr>
          <p:cNvSpPr/>
          <p:nvPr/>
        </p:nvSpPr>
        <p:spPr>
          <a:xfrm>
            <a:off x="6692781" y="428779"/>
            <a:ext cx="3910700" cy="66940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133"/>
          </a:p>
        </p:txBody>
      </p:sp>
      <p:sp>
        <p:nvSpPr>
          <p:cNvPr id="18" name="Google Shape;154;p24">
            <a:extLst>
              <a:ext uri="{FF2B5EF4-FFF2-40B4-BE49-F238E27FC236}">
                <a16:creationId xmlns:a16="http://schemas.microsoft.com/office/drawing/2014/main" id="{9DD11674-D30E-493B-BB7F-F2912E771D4C}"/>
              </a:ext>
            </a:extLst>
          </p:cNvPr>
          <p:cNvSpPr/>
          <p:nvPr/>
        </p:nvSpPr>
        <p:spPr>
          <a:xfrm>
            <a:off x="9449456" y="428779"/>
            <a:ext cx="3084819" cy="6694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214313" dist="95250" dir="5400000" algn="bl" rotWithShape="0">
              <a:schemeClr val="accent2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133"/>
          </a:p>
        </p:txBody>
      </p:sp>
      <p:sp>
        <p:nvSpPr>
          <p:cNvPr id="19" name="Google Shape;163;p25">
            <a:extLst>
              <a:ext uri="{FF2B5EF4-FFF2-40B4-BE49-F238E27FC236}">
                <a16:creationId xmlns:a16="http://schemas.microsoft.com/office/drawing/2014/main" id="{5C0A3869-3A5D-4EAF-99C0-3302322163DB}"/>
              </a:ext>
            </a:extLst>
          </p:cNvPr>
          <p:cNvSpPr txBox="1">
            <a:spLocks/>
          </p:cNvSpPr>
          <p:nvPr/>
        </p:nvSpPr>
        <p:spPr>
          <a:xfrm>
            <a:off x="4443898" y="6247532"/>
            <a:ext cx="7048588" cy="1236304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>
              <a:lnSpc>
                <a:spcPct val="150000"/>
              </a:lnSpc>
            </a:pPr>
            <a:endParaRPr lang="en-US" sz="1867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0" name="Google Shape;163;p25">
            <a:extLst>
              <a:ext uri="{FF2B5EF4-FFF2-40B4-BE49-F238E27FC236}">
                <a16:creationId xmlns:a16="http://schemas.microsoft.com/office/drawing/2014/main" id="{ED3E2561-FBBB-4EEB-9815-5591EF8A6A19}"/>
              </a:ext>
            </a:extLst>
          </p:cNvPr>
          <p:cNvSpPr txBox="1">
            <a:spLocks/>
          </p:cNvSpPr>
          <p:nvPr/>
        </p:nvSpPr>
        <p:spPr>
          <a:xfrm>
            <a:off x="9904063" y="471341"/>
            <a:ext cx="2170612" cy="587428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24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שם היחידה</a:t>
            </a:r>
            <a:endParaRPr lang="en-US" sz="24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1" name="Google Shape;163;p25">
            <a:extLst>
              <a:ext uri="{FF2B5EF4-FFF2-40B4-BE49-F238E27FC236}">
                <a16:creationId xmlns:a16="http://schemas.microsoft.com/office/drawing/2014/main" id="{4BC8B038-DB24-43F8-B822-3DE5EFDAFF42}"/>
              </a:ext>
            </a:extLst>
          </p:cNvPr>
          <p:cNvSpPr txBox="1">
            <a:spLocks/>
          </p:cNvSpPr>
          <p:nvPr/>
        </p:nvSpPr>
        <p:spPr>
          <a:xfrm>
            <a:off x="4490359" y="1"/>
            <a:ext cx="3211283" cy="587428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1867" b="1" dirty="0">
                <a:latin typeface="Assistant" panose="00000500000000000000" pitchFamily="2" charset="-79"/>
                <a:cs typeface="Assistant" panose="00000500000000000000" pitchFamily="2" charset="-79"/>
              </a:rPr>
              <a:t>-סיווג-</a:t>
            </a:r>
            <a:endParaRPr lang="en-US" sz="1867" b="1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3" name="Google Shape;154;p24">
            <a:extLst>
              <a:ext uri="{FF2B5EF4-FFF2-40B4-BE49-F238E27FC236}">
                <a16:creationId xmlns:a16="http://schemas.microsoft.com/office/drawing/2014/main" id="{C5D0B571-0D53-408E-A7D8-694BCBFAB08B}"/>
              </a:ext>
            </a:extLst>
          </p:cNvPr>
          <p:cNvSpPr/>
          <p:nvPr/>
        </p:nvSpPr>
        <p:spPr>
          <a:xfrm>
            <a:off x="8626725" y="1427149"/>
            <a:ext cx="3287500" cy="48567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214313" dist="95250" dir="5400000" algn="bl" rotWithShape="0">
              <a:schemeClr val="accent2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r" rtl="1"/>
            <a:endParaRPr sz="2133"/>
          </a:p>
        </p:txBody>
      </p:sp>
      <p:sp>
        <p:nvSpPr>
          <p:cNvPr id="24" name="Google Shape;163;p25">
            <a:extLst>
              <a:ext uri="{FF2B5EF4-FFF2-40B4-BE49-F238E27FC236}">
                <a16:creationId xmlns:a16="http://schemas.microsoft.com/office/drawing/2014/main" id="{FCCCE585-2421-48A3-9C17-FB3290675634}"/>
              </a:ext>
            </a:extLst>
          </p:cNvPr>
          <p:cNvSpPr txBox="1">
            <a:spLocks/>
          </p:cNvSpPr>
          <p:nvPr/>
        </p:nvSpPr>
        <p:spPr>
          <a:xfrm>
            <a:off x="7974079" y="1371447"/>
            <a:ext cx="3686888" cy="587428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133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היחידה ברצף הלימודי</a:t>
            </a:r>
            <a:endParaRPr lang="en-US" sz="2133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5" name="Google Shape;154;p24">
            <a:extLst>
              <a:ext uri="{FF2B5EF4-FFF2-40B4-BE49-F238E27FC236}">
                <a16:creationId xmlns:a16="http://schemas.microsoft.com/office/drawing/2014/main" id="{CF50EC53-D276-4EBE-B949-D8562549B28F}"/>
              </a:ext>
            </a:extLst>
          </p:cNvPr>
          <p:cNvSpPr/>
          <p:nvPr/>
        </p:nvSpPr>
        <p:spPr>
          <a:xfrm>
            <a:off x="9736657" y="4795536"/>
            <a:ext cx="2225831" cy="485675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214313" dist="95250" dir="5400000" algn="bl" rotWithShape="0">
              <a:schemeClr val="accent2">
                <a:alpha val="20000"/>
              </a:scheme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2133"/>
          </a:p>
        </p:txBody>
      </p:sp>
      <p:sp>
        <p:nvSpPr>
          <p:cNvPr id="26" name="Google Shape;163;p25">
            <a:extLst>
              <a:ext uri="{FF2B5EF4-FFF2-40B4-BE49-F238E27FC236}">
                <a16:creationId xmlns:a16="http://schemas.microsoft.com/office/drawing/2014/main" id="{7B611965-0B12-4DF6-83E4-F82257F9798E}"/>
              </a:ext>
            </a:extLst>
          </p:cNvPr>
          <p:cNvSpPr txBox="1">
            <a:spLocks/>
          </p:cNvSpPr>
          <p:nvPr/>
        </p:nvSpPr>
        <p:spPr>
          <a:xfrm>
            <a:off x="7974079" y="4749486"/>
            <a:ext cx="3686888" cy="587428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0"/>
            <a:r>
              <a:rPr lang="he-IL" sz="2133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דרישות קדם</a:t>
            </a:r>
            <a:endParaRPr lang="en-US" sz="2133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27" name="קבוצה 26">
            <a:extLst>
              <a:ext uri="{FF2B5EF4-FFF2-40B4-BE49-F238E27FC236}">
                <a16:creationId xmlns:a16="http://schemas.microsoft.com/office/drawing/2014/main" id="{8CB9265B-956B-4B16-8754-16C5D45F16CE}"/>
              </a:ext>
            </a:extLst>
          </p:cNvPr>
          <p:cNvGrpSpPr/>
          <p:nvPr/>
        </p:nvGrpSpPr>
        <p:grpSpPr>
          <a:xfrm>
            <a:off x="4607965" y="2451598"/>
            <a:ext cx="5877787" cy="1363169"/>
            <a:chOff x="5602490" y="2310164"/>
            <a:chExt cx="5624945" cy="1304530"/>
          </a:xfrm>
        </p:grpSpPr>
        <p:cxnSp>
          <p:nvCxnSpPr>
            <p:cNvPr id="28" name="מחבר ישר 27">
              <a:extLst>
                <a:ext uri="{FF2B5EF4-FFF2-40B4-BE49-F238E27FC236}">
                  <a16:creationId xmlns:a16="http://schemas.microsoft.com/office/drawing/2014/main" id="{7E4F65FB-75E0-41C8-B372-D7919CD85B06}"/>
                </a:ext>
              </a:extLst>
            </p:cNvPr>
            <p:cNvCxnSpPr>
              <a:stCxn id="35" idx="1"/>
              <a:endCxn id="34" idx="2"/>
            </p:cNvCxnSpPr>
            <p:nvPr/>
          </p:nvCxnSpPr>
          <p:spPr>
            <a:xfrm>
              <a:off x="6906410" y="2958472"/>
              <a:ext cx="840696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מחבר ישר 28">
              <a:extLst>
                <a:ext uri="{FF2B5EF4-FFF2-40B4-BE49-F238E27FC236}">
                  <a16:creationId xmlns:a16="http://schemas.microsoft.com/office/drawing/2014/main" id="{886C2C1B-E350-4DB9-A504-2250D4B5D960}"/>
                </a:ext>
              </a:extLst>
            </p:cNvPr>
            <p:cNvCxnSpPr>
              <a:stCxn id="33" idx="6"/>
              <a:endCxn id="35" idx="3"/>
            </p:cNvCxnSpPr>
            <p:nvPr/>
          </p:nvCxnSpPr>
          <p:spPr>
            <a:xfrm flipV="1">
              <a:off x="6045835" y="2958472"/>
              <a:ext cx="719641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מחבר ישר 29">
              <a:extLst>
                <a:ext uri="{FF2B5EF4-FFF2-40B4-BE49-F238E27FC236}">
                  <a16:creationId xmlns:a16="http://schemas.microsoft.com/office/drawing/2014/main" id="{9A1B8D4E-0D38-46D2-B2C8-96240D029A36}"/>
                </a:ext>
              </a:extLst>
            </p:cNvPr>
            <p:cNvCxnSpPr>
              <a:stCxn id="36" idx="1"/>
              <a:endCxn id="32" idx="2"/>
            </p:cNvCxnSpPr>
            <p:nvPr/>
          </p:nvCxnSpPr>
          <p:spPr>
            <a:xfrm>
              <a:off x="9839354" y="2958472"/>
              <a:ext cx="944736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מחבר ישר 30">
              <a:extLst>
                <a:ext uri="{FF2B5EF4-FFF2-40B4-BE49-F238E27FC236}">
                  <a16:creationId xmlns:a16="http://schemas.microsoft.com/office/drawing/2014/main" id="{BD4DCAF8-F957-4522-A473-AAD573DD71A1}"/>
                </a:ext>
              </a:extLst>
            </p:cNvPr>
            <p:cNvCxnSpPr>
              <a:stCxn id="34" idx="6"/>
              <a:endCxn id="36" idx="3"/>
            </p:cNvCxnSpPr>
            <p:nvPr/>
          </p:nvCxnSpPr>
          <p:spPr>
            <a:xfrm flipV="1">
              <a:off x="9051636" y="2958472"/>
              <a:ext cx="646784" cy="3957"/>
            </a:xfrm>
            <a:prstGeom prst="line">
              <a:avLst/>
            </a:prstGeom>
            <a:ln w="19050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אליפסה 31">
              <a:extLst>
                <a:ext uri="{FF2B5EF4-FFF2-40B4-BE49-F238E27FC236}">
                  <a16:creationId xmlns:a16="http://schemas.microsoft.com/office/drawing/2014/main" id="{796BF8A4-EF08-4491-AFC8-D586970611C9}"/>
                </a:ext>
              </a:extLst>
            </p:cNvPr>
            <p:cNvSpPr/>
            <p:nvPr/>
          </p:nvSpPr>
          <p:spPr>
            <a:xfrm>
              <a:off x="10784090" y="2740756"/>
              <a:ext cx="443345" cy="443346"/>
            </a:xfrm>
            <a:prstGeom prst="ellipse">
              <a:avLst/>
            </a:prstGeom>
            <a:noFill/>
            <a:ln w="825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Articulate" panose="02000503040000020004" pitchFamily="2" charset="0"/>
              </a:endParaRPr>
            </a:p>
          </p:txBody>
        </p:sp>
        <p:sp>
          <p:nvSpPr>
            <p:cNvPr id="33" name="אליפסה 32">
              <a:extLst>
                <a:ext uri="{FF2B5EF4-FFF2-40B4-BE49-F238E27FC236}">
                  <a16:creationId xmlns:a16="http://schemas.microsoft.com/office/drawing/2014/main" id="{578618D2-BDE7-43C2-9E23-7CC127E3C2A9}"/>
                </a:ext>
              </a:extLst>
            </p:cNvPr>
            <p:cNvSpPr/>
            <p:nvPr/>
          </p:nvSpPr>
          <p:spPr>
            <a:xfrm>
              <a:off x="5602490" y="2740756"/>
              <a:ext cx="443345" cy="443346"/>
            </a:xfrm>
            <a:prstGeom prst="ellipse">
              <a:avLst/>
            </a:prstGeom>
            <a:noFill/>
            <a:ln w="825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Articulate" panose="02000503040000020004" pitchFamily="2" charset="0"/>
              </a:endParaRPr>
            </a:p>
          </p:txBody>
        </p:sp>
        <p:sp>
          <p:nvSpPr>
            <p:cNvPr id="34" name="אליפסה 33">
              <a:extLst>
                <a:ext uri="{FF2B5EF4-FFF2-40B4-BE49-F238E27FC236}">
                  <a16:creationId xmlns:a16="http://schemas.microsoft.com/office/drawing/2014/main" id="{43D4ABC7-48E0-4AE2-AE93-C74B2FFC2BEE}"/>
                </a:ext>
              </a:extLst>
            </p:cNvPr>
            <p:cNvSpPr/>
            <p:nvPr/>
          </p:nvSpPr>
          <p:spPr>
            <a:xfrm>
              <a:off x="7747106" y="2310164"/>
              <a:ext cx="1304530" cy="1304530"/>
            </a:xfrm>
            <a:prstGeom prst="ellipse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  <a:ln w="825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Articulate" panose="02000503040000020004" pitchFamily="2" charset="0"/>
              </a:endParaRPr>
            </a:p>
          </p:txBody>
        </p:sp>
        <p:sp>
          <p:nvSpPr>
            <p:cNvPr id="35" name="סוגר זוויתי 53">
              <a:extLst>
                <a:ext uri="{FF2B5EF4-FFF2-40B4-BE49-F238E27FC236}">
                  <a16:creationId xmlns:a16="http://schemas.microsoft.com/office/drawing/2014/main" id="{495E9638-792A-446B-A634-030D028839FD}"/>
                </a:ext>
              </a:extLst>
            </p:cNvPr>
            <p:cNvSpPr/>
            <p:nvPr/>
          </p:nvSpPr>
          <p:spPr>
            <a:xfrm rot="10800000">
              <a:off x="6765476" y="2817538"/>
              <a:ext cx="281869" cy="281869"/>
            </a:xfrm>
            <a:prstGeom prst="chevron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>
                <a:solidFill>
                  <a:schemeClr val="tx1"/>
                </a:solidFill>
                <a:latin typeface="Articulate" panose="02000503040000020004" pitchFamily="2" charset="0"/>
              </a:endParaRPr>
            </a:p>
          </p:txBody>
        </p:sp>
        <p:sp>
          <p:nvSpPr>
            <p:cNvPr id="36" name="סוגר זוויתי 54">
              <a:extLst>
                <a:ext uri="{FF2B5EF4-FFF2-40B4-BE49-F238E27FC236}">
                  <a16:creationId xmlns:a16="http://schemas.microsoft.com/office/drawing/2014/main" id="{461E6404-1F92-49C8-BAF0-35196F73B62B}"/>
                </a:ext>
              </a:extLst>
            </p:cNvPr>
            <p:cNvSpPr/>
            <p:nvPr/>
          </p:nvSpPr>
          <p:spPr>
            <a:xfrm rot="10800000">
              <a:off x="9698420" y="2817538"/>
              <a:ext cx="281869" cy="281869"/>
            </a:xfrm>
            <a:prstGeom prst="chevron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>
                <a:solidFill>
                  <a:schemeClr val="tx1"/>
                </a:solidFill>
                <a:latin typeface="Articulate" panose="02000503040000020004" pitchFamily="2" charset="0"/>
              </a:endParaRPr>
            </a:p>
          </p:txBody>
        </p:sp>
      </p:grpSp>
      <p:sp>
        <p:nvSpPr>
          <p:cNvPr id="40" name="Google Shape;163;p25">
            <a:extLst>
              <a:ext uri="{FF2B5EF4-FFF2-40B4-BE49-F238E27FC236}">
                <a16:creationId xmlns:a16="http://schemas.microsoft.com/office/drawing/2014/main" id="{2260C373-E1C8-4541-8B6E-50EE6CE40BFE}"/>
              </a:ext>
            </a:extLst>
          </p:cNvPr>
          <p:cNvSpPr txBox="1">
            <a:spLocks/>
          </p:cNvSpPr>
          <p:nvPr/>
        </p:nvSpPr>
        <p:spPr>
          <a:xfrm>
            <a:off x="727888" y="1901263"/>
            <a:ext cx="1869405" cy="1056640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>
              <a:lnSpc>
                <a:spcPct val="100000"/>
              </a:lnSpc>
            </a:pPr>
            <a:r>
              <a:rPr lang="he-IL" sz="1867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זמן שיעור</a:t>
            </a:r>
          </a:p>
          <a:p>
            <a:pPr rtl="0">
              <a:lnSpc>
                <a:spcPct val="100000"/>
              </a:lnSpc>
            </a:pPr>
            <a:r>
              <a:rPr lang="he-IL" sz="2667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90 דקות</a:t>
            </a:r>
            <a:endParaRPr lang="en-US" sz="2667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41" name="Google Shape;11056;p64">
            <a:extLst>
              <a:ext uri="{FF2B5EF4-FFF2-40B4-BE49-F238E27FC236}">
                <a16:creationId xmlns:a16="http://schemas.microsoft.com/office/drawing/2014/main" id="{8322FE4E-F0D8-4644-A927-75EC8E773D90}"/>
              </a:ext>
            </a:extLst>
          </p:cNvPr>
          <p:cNvGrpSpPr/>
          <p:nvPr/>
        </p:nvGrpSpPr>
        <p:grpSpPr>
          <a:xfrm>
            <a:off x="1211609" y="989319"/>
            <a:ext cx="901963" cy="901823"/>
            <a:chOff x="3270475" y="1427025"/>
            <a:chExt cx="483200" cy="483125"/>
          </a:xfrm>
          <a:solidFill>
            <a:schemeClr val="bg1"/>
          </a:solidFill>
        </p:grpSpPr>
        <p:sp>
          <p:nvSpPr>
            <p:cNvPr id="42" name="Google Shape;11057;p64">
              <a:extLst>
                <a:ext uri="{FF2B5EF4-FFF2-40B4-BE49-F238E27FC236}">
                  <a16:creationId xmlns:a16="http://schemas.microsoft.com/office/drawing/2014/main" id="{A7A2E35C-94CB-4367-9782-FE7531C780FC}"/>
                </a:ext>
              </a:extLst>
            </p:cNvPr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43" name="Google Shape;11058;p64">
              <a:extLst>
                <a:ext uri="{FF2B5EF4-FFF2-40B4-BE49-F238E27FC236}">
                  <a16:creationId xmlns:a16="http://schemas.microsoft.com/office/drawing/2014/main" id="{C2C58246-B3DD-42AD-A5A1-9516D727BB34}"/>
                </a:ext>
              </a:extLst>
            </p:cNvPr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44" name="Google Shape;11059;p64">
              <a:extLst>
                <a:ext uri="{FF2B5EF4-FFF2-40B4-BE49-F238E27FC236}">
                  <a16:creationId xmlns:a16="http://schemas.microsoft.com/office/drawing/2014/main" id="{E5992806-E345-4A90-9617-8E56781437F2}"/>
                </a:ext>
              </a:extLst>
            </p:cNvPr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</p:grp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FFE3EC5-1774-4736-A6E4-18944D8FF5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95283" y="460253"/>
            <a:ext cx="264918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>
            <a:lvl1pPr algn="r">
              <a:defRPr lang="he-IL" sz="2400" kern="1200" dirty="0">
                <a:solidFill>
                  <a:schemeClr val="accent2">
                    <a:lumMod val="25000"/>
                  </a:schemeClr>
                </a:solidFill>
                <a:latin typeface="Assistant" panose="00000500000000000000" pitchFamily="2" charset="-79"/>
                <a:ea typeface="+mj-ea"/>
                <a:cs typeface="Assistant" panose="00000500000000000000" pitchFamily="2" charset="-79"/>
              </a:defRPr>
            </a:lvl1pPr>
          </a:lstStyle>
          <a:p>
            <a:pPr algn="r"/>
            <a:r>
              <a:rPr lang="he-IL" sz="2400" dirty="0">
                <a:solidFill>
                  <a:schemeClr val="accent2">
                    <a:lumMod val="2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הכנס שם יחידה</a:t>
            </a:r>
            <a:endParaRPr lang="en-US" sz="2400" dirty="0">
              <a:solidFill>
                <a:schemeClr val="accent2">
                  <a:lumMod val="2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מציין מיקום טקסט 5">
            <a:extLst>
              <a:ext uri="{FF2B5EF4-FFF2-40B4-BE49-F238E27FC236}">
                <a16:creationId xmlns:a16="http://schemas.microsoft.com/office/drawing/2014/main" id="{617929B9-D60A-4B8D-AA38-7ECFC3DA3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0493" y="2747011"/>
            <a:ext cx="1208691" cy="747183"/>
          </a:xfrm>
          <a:prstGeom prst="rect">
            <a:avLst/>
          </a:prstGeo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he-IL" dirty="0"/>
              <a:t>נושא לדוגמה</a:t>
            </a:r>
          </a:p>
        </p:txBody>
      </p:sp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959632C1-DAB3-4512-845B-97608A7AE3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14769" y="3371749"/>
            <a:ext cx="1083684" cy="695136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he-IL" dirty="0"/>
              <a:t>נושא נוסף</a:t>
            </a:r>
          </a:p>
        </p:txBody>
      </p:sp>
      <p:sp>
        <p:nvSpPr>
          <p:cNvPr id="51" name="מציין מיקום טקסט 7">
            <a:extLst>
              <a:ext uri="{FF2B5EF4-FFF2-40B4-BE49-F238E27FC236}">
                <a16:creationId xmlns:a16="http://schemas.microsoft.com/office/drawing/2014/main" id="{1307E72B-7D54-4A4B-B7BC-DF3774F9BD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7759" y="3371749"/>
            <a:ext cx="1083684" cy="695136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he-IL" dirty="0"/>
              <a:t>נושא נוסף</a:t>
            </a:r>
          </a:p>
        </p:txBody>
      </p:sp>
      <p:sp>
        <p:nvSpPr>
          <p:cNvPr id="10" name="מציין מיקום טקסט 9">
            <a:extLst>
              <a:ext uri="{FF2B5EF4-FFF2-40B4-BE49-F238E27FC236}">
                <a16:creationId xmlns:a16="http://schemas.microsoft.com/office/drawing/2014/main" id="{104AF3B4-94FE-4491-892E-9667CC39B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441" y="2297846"/>
            <a:ext cx="1869017" cy="649817"/>
          </a:xfrm>
          <a:prstGeom prst="rect">
            <a:avLst/>
          </a:prstGeom>
        </p:spPr>
        <p:txBody>
          <a:bodyPr/>
          <a:lstStyle>
            <a:lvl1pPr algn="ctr">
              <a:defRPr lang="he-IL" sz="2667" b="0" i="0" u="none" strike="noStrike" kern="1200" cap="none" dirty="0" smtClean="0">
                <a:solidFill>
                  <a:schemeClr val="bg1"/>
                </a:solidFill>
                <a:latin typeface="Assistant" panose="00000500000000000000" pitchFamily="2" charset="-79"/>
                <a:ea typeface="+mj-ea"/>
                <a:cs typeface="Assistant" panose="00000500000000000000" pitchFamily="2" charset="-79"/>
                <a:sym typeface="Arial"/>
              </a:defRPr>
            </a:lvl1pPr>
          </a:lstStyle>
          <a:p>
            <a:pPr lvl="0"/>
            <a:r>
              <a:rPr lang="he-IL" dirty="0"/>
              <a:t>90 דקות</a:t>
            </a:r>
          </a:p>
        </p:txBody>
      </p:sp>
      <p:sp>
        <p:nvSpPr>
          <p:cNvPr id="12" name="מציין מיקום טקסט 11">
            <a:extLst>
              <a:ext uri="{FF2B5EF4-FFF2-40B4-BE49-F238E27FC236}">
                <a16:creationId xmlns:a16="http://schemas.microsoft.com/office/drawing/2014/main" id="{165B6943-2E5D-4FF1-826F-CFA8BA29F6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5950" y="5281084"/>
            <a:ext cx="7084483" cy="1236304"/>
          </a:xfrm>
          <a:prstGeom prst="rect">
            <a:avLst/>
          </a:prstGeom>
        </p:spPr>
        <p:txBody>
          <a:bodyPr/>
          <a:lstStyle>
            <a:lvl1pPr algn="r" rtl="0">
              <a:lnSpc>
                <a:spcPct val="150000"/>
              </a:lnSpc>
              <a:defRPr/>
            </a:lvl1pPr>
          </a:lstStyle>
          <a:p>
            <a:pPr algn="r" rtl="0">
              <a:lnSpc>
                <a:spcPct val="150000"/>
              </a:lnSpc>
            </a:pPr>
            <a:r>
              <a:rPr lang="he-IL" sz="1867" dirty="0">
                <a:latin typeface="Assistant" panose="00000500000000000000" pitchFamily="2" charset="-79"/>
                <a:cs typeface="Assistant" panose="00000500000000000000" pitchFamily="2" charset="-79"/>
              </a:rPr>
              <a:t>יחידה זו הינה מכינת תקשורת</a:t>
            </a:r>
          </a:p>
          <a:p>
            <a:pPr algn="r" rtl="0">
              <a:lnSpc>
                <a:spcPct val="150000"/>
              </a:lnSpc>
            </a:pPr>
            <a:r>
              <a:rPr lang="he-IL" sz="1867" dirty="0">
                <a:latin typeface="Assistant" panose="00000500000000000000" pitchFamily="2" charset="-79"/>
                <a:cs typeface="Assistant" panose="00000500000000000000" pitchFamily="2" charset="-79"/>
              </a:rPr>
              <a:t>יש לעבור את יחידת "מבוא </a:t>
            </a:r>
            <a:r>
              <a:rPr lang="he-IL" sz="1867" dirty="0" err="1">
                <a:latin typeface="Assistant" panose="00000500000000000000" pitchFamily="2" charset="-79"/>
                <a:cs typeface="Assistant" panose="00000500000000000000" pitchFamily="2" charset="-79"/>
              </a:rPr>
              <a:t>לסיגינט</a:t>
            </a:r>
            <a:r>
              <a:rPr lang="he-IL" sz="1867" dirty="0">
                <a:latin typeface="Assistant" panose="00000500000000000000" pitchFamily="2" charset="-79"/>
                <a:cs typeface="Assistant" panose="00000500000000000000" pitchFamily="2" charset="-79"/>
              </a:rPr>
              <a:t>" לפני פרק זה</a:t>
            </a:r>
            <a:endParaRPr lang="en-US" sz="1867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0000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2798200" y="131200"/>
            <a:ext cx="6595600" cy="6595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16"/>
          <p:cNvSpPr/>
          <p:nvPr/>
        </p:nvSpPr>
        <p:spPr>
          <a:xfrm>
            <a:off x="413203" y="5619737"/>
            <a:ext cx="2151600" cy="21516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16"/>
          <p:cNvSpPr/>
          <p:nvPr/>
        </p:nvSpPr>
        <p:spPr>
          <a:xfrm>
            <a:off x="10828900" y="0"/>
            <a:ext cx="3454800" cy="345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16"/>
          <p:cNvSpPr/>
          <p:nvPr/>
        </p:nvSpPr>
        <p:spPr>
          <a:xfrm>
            <a:off x="10674233" y="-361433"/>
            <a:ext cx="3454800" cy="34548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16"/>
          <p:cNvSpPr/>
          <p:nvPr/>
        </p:nvSpPr>
        <p:spPr>
          <a:xfrm rot="-8100000">
            <a:off x="3121167" y="-2767680"/>
            <a:ext cx="137461" cy="5826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0" name="Google Shape;140;p16"/>
          <p:cNvCxnSpPr/>
          <p:nvPr/>
        </p:nvCxnSpPr>
        <p:spPr>
          <a:xfrm rot="10800000" flipH="1">
            <a:off x="1760033" y="-654000"/>
            <a:ext cx="2698400" cy="26128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16"/>
          <p:cNvSpPr txBox="1">
            <a:spLocks noGrp="1"/>
          </p:cNvSpPr>
          <p:nvPr>
            <p:ph type="ctrTitle"/>
          </p:nvPr>
        </p:nvSpPr>
        <p:spPr>
          <a:xfrm>
            <a:off x="4167600" y="1594167"/>
            <a:ext cx="38568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 b="1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של תבנית בסיס</a:t>
            </a:r>
            <a:endParaRPr dirty="0"/>
          </a:p>
        </p:txBody>
      </p:sp>
      <p:sp>
        <p:nvSpPr>
          <p:cNvPr id="142" name="Google Shape;142;p16"/>
          <p:cNvSpPr txBox="1">
            <a:spLocks noGrp="1"/>
          </p:cNvSpPr>
          <p:nvPr>
            <p:ph type="subTitle" idx="1"/>
          </p:nvPr>
        </p:nvSpPr>
        <p:spPr>
          <a:xfrm>
            <a:off x="3523600" y="2552167"/>
            <a:ext cx="5144800" cy="16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משנה של תבנית בסיס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077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bg>
      <p:bgPr>
        <a:solidFill>
          <a:schemeClr val="accen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264160" y="264160"/>
            <a:ext cx="11663680" cy="6329680"/>
          </a:xfrm>
          <a:prstGeom prst="round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16"/>
          <p:cNvSpPr/>
          <p:nvPr/>
        </p:nvSpPr>
        <p:spPr>
          <a:xfrm>
            <a:off x="413203" y="5619737"/>
            <a:ext cx="2151600" cy="21516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16"/>
          <p:cNvSpPr/>
          <p:nvPr/>
        </p:nvSpPr>
        <p:spPr>
          <a:xfrm>
            <a:off x="11574197" y="1287025"/>
            <a:ext cx="3454800" cy="345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16"/>
          <p:cNvSpPr/>
          <p:nvPr/>
        </p:nvSpPr>
        <p:spPr>
          <a:xfrm>
            <a:off x="11415913" y="698276"/>
            <a:ext cx="3454800" cy="34548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16"/>
          <p:cNvSpPr/>
          <p:nvPr/>
        </p:nvSpPr>
        <p:spPr>
          <a:xfrm rot="-8100000">
            <a:off x="2576736" y="-3647211"/>
            <a:ext cx="137461" cy="5826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0" name="Google Shape;140;p16"/>
          <p:cNvCxnSpPr/>
          <p:nvPr/>
        </p:nvCxnSpPr>
        <p:spPr>
          <a:xfrm rot="10800000" flipH="1">
            <a:off x="1215603" y="-1533531"/>
            <a:ext cx="2698400" cy="26128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16"/>
          <p:cNvSpPr txBox="1">
            <a:spLocks noGrp="1"/>
          </p:cNvSpPr>
          <p:nvPr>
            <p:ph type="ctrTitle"/>
          </p:nvPr>
        </p:nvSpPr>
        <p:spPr>
          <a:xfrm>
            <a:off x="7185120" y="468471"/>
            <a:ext cx="38568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 b="1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של תבנית בסיס</a:t>
            </a:r>
            <a:endParaRPr dirty="0"/>
          </a:p>
        </p:txBody>
      </p:sp>
      <p:sp>
        <p:nvSpPr>
          <p:cNvPr id="142" name="Google Shape;142;p16"/>
          <p:cNvSpPr txBox="1">
            <a:spLocks noGrp="1"/>
          </p:cNvSpPr>
          <p:nvPr>
            <p:ph type="subTitle" idx="1"/>
          </p:nvPr>
        </p:nvSpPr>
        <p:spPr>
          <a:xfrm>
            <a:off x="1215603" y="1299155"/>
            <a:ext cx="9829837" cy="46952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Assistant" panose="00000500000000000000" pitchFamily="2" charset="-79"/>
                <a:cs typeface="Assistant" panose="00000500000000000000" pitchFamily="2" charset="-79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משנה של תבנית בסיס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016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bg>
      <p:bgPr>
        <a:solidFill>
          <a:schemeClr val="accen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36;p16"/>
          <p:cNvSpPr/>
          <p:nvPr/>
        </p:nvSpPr>
        <p:spPr>
          <a:xfrm>
            <a:off x="11431716" y="3841737"/>
            <a:ext cx="2151600" cy="2151600"/>
          </a:xfrm>
          <a:prstGeom prst="ellipse">
            <a:avLst/>
          </a:prstGeom>
          <a:noFill/>
          <a:ln w="19050" cap="flat" cmpd="sng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16"/>
          <p:cNvSpPr/>
          <p:nvPr/>
        </p:nvSpPr>
        <p:spPr>
          <a:xfrm>
            <a:off x="-409757" y="5091417"/>
            <a:ext cx="2151600" cy="21516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16"/>
          <p:cNvSpPr/>
          <p:nvPr/>
        </p:nvSpPr>
        <p:spPr>
          <a:xfrm>
            <a:off x="11324473" y="4042217"/>
            <a:ext cx="3454800" cy="34548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16"/>
          <p:cNvSpPr/>
          <p:nvPr/>
        </p:nvSpPr>
        <p:spPr>
          <a:xfrm rot="-8100000">
            <a:off x="2576736" y="-3647211"/>
            <a:ext cx="137461" cy="58265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0" name="Google Shape;140;p16"/>
          <p:cNvCxnSpPr/>
          <p:nvPr/>
        </p:nvCxnSpPr>
        <p:spPr>
          <a:xfrm rot="10800000" flipH="1">
            <a:off x="1215603" y="-1533531"/>
            <a:ext cx="2698400" cy="26128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" name="Google Shape;135;p16"/>
          <p:cNvSpPr/>
          <p:nvPr/>
        </p:nvSpPr>
        <p:spPr>
          <a:xfrm>
            <a:off x="558800" y="468471"/>
            <a:ext cx="11074400" cy="5921059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7097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6593840" y="469651"/>
            <a:ext cx="4864787" cy="7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600"/>
              <a:buNone/>
              <a:defRPr sz="3467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he-IL"/>
              <a:t>לחץ כדי לערוך סגנון כותרת של תבנית בסיס</a:t>
            </a:r>
            <a:endParaRPr dirty="0"/>
          </a:p>
        </p:txBody>
      </p:sp>
      <p:sp>
        <p:nvSpPr>
          <p:cNvPr id="151" name="Google Shape;151;p18"/>
          <p:cNvSpPr txBox="1">
            <a:spLocks noGrp="1"/>
          </p:cNvSpPr>
          <p:nvPr>
            <p:ph type="body" idx="1"/>
          </p:nvPr>
        </p:nvSpPr>
        <p:spPr>
          <a:xfrm>
            <a:off x="7488227" y="1260793"/>
            <a:ext cx="3970400" cy="28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69329" lvl="0" indent="0" algn="r" rtl="1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marL="1219170" lvl="1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52" name="Google Shape;152;p18"/>
          <p:cNvSpPr/>
          <p:nvPr/>
        </p:nvSpPr>
        <p:spPr>
          <a:xfrm rot="-8071706">
            <a:off x="3991949" y="-1381486"/>
            <a:ext cx="137467" cy="261835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3" name="Google Shape;153;p18"/>
          <p:cNvCxnSpPr/>
          <p:nvPr/>
        </p:nvCxnSpPr>
        <p:spPr>
          <a:xfrm rot="27008" flipH="1">
            <a:off x="2205192" y="-1255410"/>
            <a:ext cx="2698483" cy="2612883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" name="Google Shape;154;p18"/>
          <p:cNvSpPr/>
          <p:nvPr/>
        </p:nvSpPr>
        <p:spPr>
          <a:xfrm rot="10800000">
            <a:off x="-960000" y="1368033"/>
            <a:ext cx="1528400" cy="1528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18"/>
          <p:cNvSpPr/>
          <p:nvPr/>
        </p:nvSpPr>
        <p:spPr>
          <a:xfrm>
            <a:off x="343377" y="5743333"/>
            <a:ext cx="2864000" cy="286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18"/>
          <p:cNvSpPr/>
          <p:nvPr/>
        </p:nvSpPr>
        <p:spPr>
          <a:xfrm>
            <a:off x="215167" y="5443723"/>
            <a:ext cx="2864000" cy="28640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8181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 preserve="1">
  <p:cSld name="1_Title + text 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 rot="-8071706">
            <a:off x="3991949" y="-1381486"/>
            <a:ext cx="137467" cy="261835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3" name="Google Shape;153;p18"/>
          <p:cNvCxnSpPr/>
          <p:nvPr/>
        </p:nvCxnSpPr>
        <p:spPr>
          <a:xfrm rot="27008" flipH="1">
            <a:off x="2205192" y="-1255410"/>
            <a:ext cx="2698483" cy="2612883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" name="Google Shape;154;p18"/>
          <p:cNvSpPr/>
          <p:nvPr/>
        </p:nvSpPr>
        <p:spPr>
          <a:xfrm rot="10800000">
            <a:off x="-960000" y="1368033"/>
            <a:ext cx="1528400" cy="1528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18"/>
          <p:cNvSpPr/>
          <p:nvPr/>
        </p:nvSpPr>
        <p:spPr>
          <a:xfrm>
            <a:off x="343377" y="5743333"/>
            <a:ext cx="2864000" cy="286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18"/>
          <p:cNvSpPr/>
          <p:nvPr/>
        </p:nvSpPr>
        <p:spPr>
          <a:xfrm>
            <a:off x="215167" y="5443723"/>
            <a:ext cx="2864000" cy="28640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" name="Google Shape;1959;p38">
            <a:extLst>
              <a:ext uri="{FF2B5EF4-FFF2-40B4-BE49-F238E27FC236}">
                <a16:creationId xmlns:a16="http://schemas.microsoft.com/office/drawing/2014/main" id="{4A2736E4-40CE-46BC-A4F7-AF677E71CCAA}"/>
              </a:ext>
            </a:extLst>
          </p:cNvPr>
          <p:cNvSpPr/>
          <p:nvPr/>
        </p:nvSpPr>
        <p:spPr>
          <a:xfrm rot="10800000">
            <a:off x="7146733" y="-503600"/>
            <a:ext cx="3992400" cy="78652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" name="Google Shape;1962;p38">
            <a:extLst>
              <a:ext uri="{FF2B5EF4-FFF2-40B4-BE49-F238E27FC236}">
                <a16:creationId xmlns:a16="http://schemas.microsoft.com/office/drawing/2014/main" id="{D229EE59-E250-40E3-AA28-2925E9B36F68}"/>
              </a:ext>
            </a:extLst>
          </p:cNvPr>
          <p:cNvGrpSpPr/>
          <p:nvPr/>
        </p:nvGrpSpPr>
        <p:grpSpPr>
          <a:xfrm>
            <a:off x="7421300" y="-671567"/>
            <a:ext cx="4828800" cy="8206000"/>
            <a:chOff x="5565975" y="-503675"/>
            <a:chExt cx="3621600" cy="6154500"/>
          </a:xfrm>
          <a:solidFill>
            <a:schemeClr val="accent4"/>
          </a:solidFill>
        </p:grpSpPr>
        <p:pic>
          <p:nvPicPr>
            <p:cNvPr id="11" name="Google Shape;1963;p38">
              <a:extLst>
                <a:ext uri="{FF2B5EF4-FFF2-40B4-BE49-F238E27FC236}">
                  <a16:creationId xmlns:a16="http://schemas.microsoft.com/office/drawing/2014/main" id="{5DB7DCBA-FE3A-479D-821B-21D2DDF1993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2208" t="-9508" r="21428" b="-9496"/>
            <a:stretch/>
          </p:blipFill>
          <p:spPr>
            <a:xfrm rot="10800000">
              <a:off x="5566800" y="-488850"/>
              <a:ext cx="3577200" cy="6121200"/>
            </a:xfrm>
            <a:prstGeom prst="flowChartDelay">
              <a:avLst/>
            </a:prstGeom>
            <a:grpFill/>
            <a:ln>
              <a:noFill/>
            </a:ln>
          </p:spPr>
        </p:pic>
        <p:sp>
          <p:nvSpPr>
            <p:cNvPr id="12" name="Google Shape;1964;p38">
              <a:extLst>
                <a:ext uri="{FF2B5EF4-FFF2-40B4-BE49-F238E27FC236}">
                  <a16:creationId xmlns:a16="http://schemas.microsoft.com/office/drawing/2014/main" id="{41AB2247-F62A-46BB-B879-0B919EB47EA6}"/>
                </a:ext>
              </a:extLst>
            </p:cNvPr>
            <p:cNvSpPr/>
            <p:nvPr/>
          </p:nvSpPr>
          <p:spPr>
            <a:xfrm rot="10800000">
              <a:off x="5565975" y="-503675"/>
              <a:ext cx="3621600" cy="6154500"/>
            </a:xfrm>
            <a:prstGeom prst="flowChartDelay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63;p25">
            <a:extLst>
              <a:ext uri="{FF2B5EF4-FFF2-40B4-BE49-F238E27FC236}">
                <a16:creationId xmlns:a16="http://schemas.microsoft.com/office/drawing/2014/main" id="{AFEB6B31-E1B2-4860-B7B7-D9E484D14AE8}"/>
              </a:ext>
            </a:extLst>
          </p:cNvPr>
          <p:cNvSpPr txBox="1">
            <a:spLocks/>
          </p:cNvSpPr>
          <p:nvPr/>
        </p:nvSpPr>
        <p:spPr>
          <a:xfrm>
            <a:off x="8394464" y="2157157"/>
            <a:ext cx="2882473" cy="2352495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80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מפת שיעור</a:t>
            </a:r>
            <a:endParaRPr lang="en-US" sz="80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4" name="מציין מיקום טקסט 2">
            <a:extLst>
              <a:ext uri="{FF2B5EF4-FFF2-40B4-BE49-F238E27FC236}">
                <a16:creationId xmlns:a16="http://schemas.microsoft.com/office/drawing/2014/main" id="{AD3FEFC4-E2CA-4DA2-9D97-AA39A76A812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-183032" y="1286940"/>
            <a:ext cx="6843733" cy="3881960"/>
          </a:xfrm>
          <a:prstGeom prst="rect">
            <a:avLst/>
          </a:prstGeom>
        </p:spPr>
        <p:txBody>
          <a:bodyPr/>
          <a:lstStyle>
            <a:lvl1pPr marL="934126" indent="-685783" algn="r" rtl="1">
              <a:lnSpc>
                <a:spcPct val="250000"/>
              </a:lnSpc>
              <a:buClr>
                <a:schemeClr val="accent4">
                  <a:lumMod val="75000"/>
                </a:schemeClr>
              </a:buClr>
              <a:buSzPct val="150000"/>
              <a:buFont typeface="+mj-lt"/>
              <a:buAutoNum type="arabicPeriod"/>
              <a:defRPr/>
            </a:lvl1pPr>
          </a:lstStyle>
          <a:p>
            <a:pPr marL="700612" indent="-514350" algn="r" rtl="1">
              <a:lnSpc>
                <a:spcPct val="250000"/>
              </a:lnSpc>
              <a:buClr>
                <a:schemeClr val="accent4">
                  <a:lumMod val="75000"/>
                </a:schemeClr>
              </a:buClr>
              <a:buSzPct val="150000"/>
              <a:buFont typeface="+mj-lt"/>
              <a:buAutoNum type="arabicPeriod"/>
            </a:pPr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סידור דוגמא</a:t>
            </a:r>
          </a:p>
          <a:p>
            <a:pPr marL="700612" indent="-514350" algn="r" rtl="1">
              <a:lnSpc>
                <a:spcPct val="250000"/>
              </a:lnSpc>
              <a:buClr>
                <a:schemeClr val="accent4">
                  <a:lumMod val="75000"/>
                </a:schemeClr>
              </a:buClr>
              <a:buSzPct val="150000"/>
              <a:buFont typeface="+mj-lt"/>
              <a:buAutoNum type="arabicPeriod"/>
            </a:pPr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חשיבות בלימוד תקשורת</a:t>
            </a:r>
          </a:p>
          <a:p>
            <a:pPr marL="700612" indent="-514350" algn="r" rtl="1">
              <a:lnSpc>
                <a:spcPct val="250000"/>
              </a:lnSpc>
              <a:buClr>
                <a:schemeClr val="accent4">
                  <a:lumMod val="75000"/>
                </a:schemeClr>
              </a:buClr>
              <a:buSzPct val="150000"/>
              <a:buFont typeface="+mj-lt"/>
              <a:buAutoNum type="arabicPeriod"/>
            </a:pPr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מרכזיות </a:t>
            </a:r>
            <a:r>
              <a:rPr lang="he-IL" sz="2400" b="1" dirty="0" err="1">
                <a:latin typeface="Assistant" panose="00000500000000000000" pitchFamily="2" charset="-79"/>
                <a:cs typeface="Assistant" panose="00000500000000000000" pitchFamily="2" charset="-79"/>
              </a:rPr>
              <a:t>הסיגינט</a:t>
            </a:r>
            <a:endParaRPr lang="he-IL" sz="2400" b="1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00612" indent="-514350" algn="r" rtl="1">
              <a:lnSpc>
                <a:spcPct val="250000"/>
              </a:lnSpc>
              <a:buClr>
                <a:schemeClr val="accent4">
                  <a:lumMod val="75000"/>
                </a:schemeClr>
              </a:buClr>
              <a:buSzPct val="150000"/>
              <a:buFont typeface="+mj-lt"/>
              <a:buAutoNum type="arabicPeriod"/>
            </a:pPr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הבנת המקורות כתנאי סף</a:t>
            </a:r>
          </a:p>
        </p:txBody>
      </p:sp>
    </p:spTree>
    <p:extLst>
      <p:ext uri="{BB962C8B-B14F-4D97-AF65-F5344CB8AC3E}">
        <p14:creationId xmlns:p14="http://schemas.microsoft.com/office/powerpoint/2010/main" val="12325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8;p6"/>
          <p:cNvSpPr/>
          <p:nvPr/>
        </p:nvSpPr>
        <p:spPr>
          <a:xfrm>
            <a:off x="913400" y="-1458000"/>
            <a:ext cx="2916000" cy="29160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" name="Google Shape;49;p6"/>
          <p:cNvSpPr/>
          <p:nvPr/>
        </p:nvSpPr>
        <p:spPr>
          <a:xfrm rot="2700000">
            <a:off x="10996235" y="5145488"/>
            <a:ext cx="137461" cy="261855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" name="Google Shape;50;p6"/>
          <p:cNvCxnSpPr/>
          <p:nvPr/>
        </p:nvCxnSpPr>
        <p:spPr>
          <a:xfrm rot="10800000" flipH="1">
            <a:off x="10220900" y="5021033"/>
            <a:ext cx="2698400" cy="26128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51;p6"/>
          <p:cNvSpPr/>
          <p:nvPr/>
        </p:nvSpPr>
        <p:spPr>
          <a:xfrm>
            <a:off x="646767" y="-1458000"/>
            <a:ext cx="2916000" cy="29160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" name="Google Shape;141;p16"/>
          <p:cNvSpPr txBox="1">
            <a:spLocks noGrp="1"/>
          </p:cNvSpPr>
          <p:nvPr>
            <p:ph type="ctrTitle"/>
          </p:nvPr>
        </p:nvSpPr>
        <p:spPr>
          <a:xfrm>
            <a:off x="7185120" y="468471"/>
            <a:ext cx="38568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 b="1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he-IL"/>
              <a:t>לחץ כדי לערוך סגנון כותרת של תבנית בסיס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0562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preserve="1">
  <p:cSld name="1_Blank slide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96;p14"/>
          <p:cNvGrpSpPr/>
          <p:nvPr/>
        </p:nvGrpSpPr>
        <p:grpSpPr>
          <a:xfrm>
            <a:off x="5832113" y="-96433"/>
            <a:ext cx="6720655" cy="7132400"/>
            <a:chOff x="4297884" y="-72325"/>
            <a:chExt cx="5040491" cy="5349300"/>
          </a:xfrm>
        </p:grpSpPr>
        <p:sp>
          <p:nvSpPr>
            <p:cNvPr id="9" name="Google Shape;97;p14"/>
            <p:cNvSpPr/>
            <p:nvPr/>
          </p:nvSpPr>
          <p:spPr>
            <a:xfrm rot="5400000">
              <a:off x="2759613" y="1477371"/>
              <a:ext cx="5292108" cy="2215566"/>
            </a:xfrm>
            <a:prstGeom prst="flowChartDocumen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98;p14"/>
            <p:cNvSpPr/>
            <p:nvPr/>
          </p:nvSpPr>
          <p:spPr>
            <a:xfrm>
              <a:off x="6309575" y="-72325"/>
              <a:ext cx="3028800" cy="534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" name="Google Shape;99;p14"/>
          <p:cNvSpPr/>
          <p:nvPr/>
        </p:nvSpPr>
        <p:spPr>
          <a:xfrm rot="-8639829">
            <a:off x="1836957" y="-1426296"/>
            <a:ext cx="137456" cy="261848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" name="Google Shape;100;p14"/>
          <p:cNvCxnSpPr/>
          <p:nvPr/>
        </p:nvCxnSpPr>
        <p:spPr>
          <a:xfrm rot="-534649" flipH="1">
            <a:off x="77040" y="-1219572"/>
            <a:ext cx="2698569" cy="2612749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01;p14"/>
          <p:cNvSpPr/>
          <p:nvPr/>
        </p:nvSpPr>
        <p:spPr>
          <a:xfrm>
            <a:off x="11207067" y="377633"/>
            <a:ext cx="3454800" cy="34548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02;p14"/>
          <p:cNvSpPr/>
          <p:nvPr/>
        </p:nvSpPr>
        <p:spPr>
          <a:xfrm>
            <a:off x="-109067" y="5920133"/>
            <a:ext cx="2269600" cy="226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02;p14"/>
          <p:cNvSpPr/>
          <p:nvPr/>
        </p:nvSpPr>
        <p:spPr>
          <a:xfrm>
            <a:off x="5113130" y="-1258376"/>
            <a:ext cx="1960741" cy="19607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7696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2F8D-BFD8-4949-938D-139C1717D971}" type="datetimeFigureOut">
              <a:rPr lang="he-IL" smtClean="0"/>
              <a:t>כ"ג/תשרי/תשפ"ז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F279-C05E-4F10-B168-96B3B768D7F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1508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defRPr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>
              <a:defRPr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>
              <a:defRPr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he-IL" dirty="0"/>
          </a:p>
        </p:txBody>
      </p:sp>
      <p:sp>
        <p:nvSpPr>
          <p:cNvPr id="7" name="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5228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8917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4" r:id="rId13"/>
    <p:sldLayoutId id="2147483705" r:id="rId1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ssistant" panose="00000500000000000000" pitchFamily="2" charset="-79"/>
          <a:ea typeface="Assistant" panose="00000500000000000000" pitchFamily="2" charset="-79"/>
          <a:cs typeface="Assistant" panose="00000500000000000000" pitchFamily="2" charset="-79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+mn-cs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0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3.jpe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1.xml" 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 /><Relationship Id="rId1" Type="http://schemas.openxmlformats.org/officeDocument/2006/relationships/slideLayout" Target="../slideLayouts/slideLayout1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 /><Relationship Id="rId1" Type="http://schemas.openxmlformats.org/officeDocument/2006/relationships/slideLayout" Target="../slideLayouts/slideLayout1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 /><Relationship Id="rId1" Type="http://schemas.openxmlformats.org/officeDocument/2006/relationships/slideLayout" Target="../slideLayouts/slideLayout1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 /><Relationship Id="rId1" Type="http://schemas.openxmlformats.org/officeDocument/2006/relationships/slideLayout" Target="../slideLayouts/slideLayout11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1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 /><Relationship Id="rId1" Type="http://schemas.openxmlformats.org/officeDocument/2006/relationships/slideLayout" Target="../slideLayouts/slideLayout1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1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1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13.wmf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 idx="4294967295"/>
          </p:nvPr>
        </p:nvSpPr>
        <p:spPr>
          <a:xfrm>
            <a:off x="0" y="1572246"/>
            <a:ext cx="12192000" cy="2387600"/>
          </a:xfrm>
        </p:spPr>
        <p:txBody>
          <a:bodyPr>
            <a:normAutofit/>
          </a:bodyPr>
          <a:lstStyle/>
          <a:p>
            <a:pPr algn="ctr"/>
            <a:r>
              <a:rPr lang="he-IL" sz="11500" dirty="0">
                <a:cs typeface="Assistant ExtraBold" panose="00000900000000000000" pitchFamily="2" charset="-79"/>
              </a:rPr>
              <a:t>מבוא לגיאודזיה</a:t>
            </a:r>
          </a:p>
        </p:txBody>
      </p:sp>
      <p:sp>
        <p:nvSpPr>
          <p:cNvPr id="4" name="כותרת משנה 2"/>
          <p:cNvSpPr txBox="1">
            <a:spLocks/>
          </p:cNvSpPr>
          <p:nvPr/>
        </p:nvSpPr>
        <p:spPr>
          <a:xfrm>
            <a:off x="5383369" y="100179"/>
            <a:ext cx="1223493" cy="3209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17488B45-E2C8-4AA1-9BD5-4ADA21692844}"/>
              </a:ext>
            </a:extLst>
          </p:cNvPr>
          <p:cNvSpPr txBox="1">
            <a:spLocks/>
          </p:cNvSpPr>
          <p:nvPr/>
        </p:nvSpPr>
        <p:spPr>
          <a:xfrm>
            <a:off x="0" y="3150607"/>
            <a:ext cx="12192000" cy="2387600"/>
          </a:xfr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1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ssistant" panose="00000500000000000000" pitchFamily="2" charset="-79"/>
                <a:ea typeface="Assistant" panose="00000500000000000000" pitchFamily="2" charset="-79"/>
                <a:cs typeface="Assistant" panose="00000500000000000000" pitchFamily="2" charset="-79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he-IL" sz="8000" dirty="0">
                <a:cs typeface="Assistant ExtraBold" panose="00000900000000000000" pitchFamily="2" charset="-79"/>
              </a:rPr>
              <a:t>חלק ב'</a:t>
            </a:r>
          </a:p>
        </p:txBody>
      </p:sp>
    </p:spTree>
    <p:extLst>
      <p:ext uri="{BB962C8B-B14F-4D97-AF65-F5344CB8AC3E}">
        <p14:creationId xmlns:p14="http://schemas.microsoft.com/office/powerpoint/2010/main" val="3420369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38"/>
          <p:cNvSpPr/>
          <p:nvPr/>
        </p:nvSpPr>
        <p:spPr>
          <a:xfrm rot="10800000">
            <a:off x="7146733" y="-503600"/>
            <a:ext cx="3992400" cy="78652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grpSp>
        <p:nvGrpSpPr>
          <p:cNvPr id="1962" name="Google Shape;1962;p38"/>
          <p:cNvGrpSpPr/>
          <p:nvPr/>
        </p:nvGrpSpPr>
        <p:grpSpPr>
          <a:xfrm>
            <a:off x="7421300" y="-671567"/>
            <a:ext cx="4828800" cy="8206000"/>
            <a:chOff x="5565975" y="-503675"/>
            <a:chExt cx="3621600" cy="6154500"/>
          </a:xfrm>
          <a:solidFill>
            <a:schemeClr val="accent4"/>
          </a:solidFill>
        </p:grpSpPr>
        <p:pic>
          <p:nvPicPr>
            <p:cNvPr id="1963" name="Google Shape;1963;p38"/>
            <p:cNvPicPr preferRelativeResize="0"/>
            <p:nvPr/>
          </p:nvPicPr>
          <p:blipFill rotWithShape="1">
            <a:blip r:embed="rId3">
              <a:alphaModFix/>
            </a:blip>
            <a:srcRect l="32208" t="-9508" r="21428" b="-9496"/>
            <a:stretch/>
          </p:blipFill>
          <p:spPr>
            <a:xfrm rot="10800000">
              <a:off x="5566800" y="-488850"/>
              <a:ext cx="3577200" cy="6121200"/>
            </a:xfrm>
            <a:prstGeom prst="flowChartDelay">
              <a:avLst/>
            </a:prstGeom>
            <a:grpFill/>
            <a:ln>
              <a:noFill/>
            </a:ln>
          </p:spPr>
        </p:pic>
        <p:sp>
          <p:nvSpPr>
            <p:cNvPr id="1964" name="Google Shape;1964;p38"/>
            <p:cNvSpPr/>
            <p:nvPr/>
          </p:nvSpPr>
          <p:spPr>
            <a:xfrm rot="10800000">
              <a:off x="5565975" y="-503675"/>
              <a:ext cx="3621600" cy="6154500"/>
            </a:xfrm>
            <a:prstGeom prst="flowChartDelay">
              <a:avLst/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0" name="Google Shape;163;p25"/>
          <p:cNvSpPr txBox="1">
            <a:spLocks/>
          </p:cNvSpPr>
          <p:nvPr/>
        </p:nvSpPr>
        <p:spPr>
          <a:xfrm>
            <a:off x="8394464" y="2157157"/>
            <a:ext cx="2882473" cy="2352495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8000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מפת שיעור</a:t>
            </a:r>
            <a:endParaRPr lang="en-US" sz="8000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1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-183032" y="756168"/>
            <a:ext cx="6843733" cy="3881960"/>
          </a:xfrm>
        </p:spPr>
        <p:txBody>
          <a:bodyPr/>
          <a:lstStyle/>
          <a:p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גיאודזיה – תורת המיפוי</a:t>
            </a:r>
          </a:p>
          <a:p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גופי ייחוס מרחביים</a:t>
            </a:r>
          </a:p>
          <a:p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שיטות הטלה</a:t>
            </a:r>
          </a:p>
          <a:p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מערכות ייחוס</a:t>
            </a:r>
          </a:p>
          <a:p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אזימוט</a:t>
            </a:r>
          </a:p>
          <a:p>
            <a:r>
              <a:rPr lang="he-IL" sz="2400" b="1" dirty="0">
                <a:latin typeface="Assistant" panose="00000500000000000000" pitchFamily="2" charset="-79"/>
                <a:cs typeface="Assistant" panose="00000500000000000000" pitchFamily="2" charset="-79"/>
              </a:rPr>
              <a:t>סיכום</a:t>
            </a:r>
          </a:p>
        </p:txBody>
      </p:sp>
    </p:spTree>
    <p:extLst>
      <p:ext uri="{BB962C8B-B14F-4D97-AF65-F5344CB8AC3E}">
        <p14:creationId xmlns:p14="http://schemas.microsoft.com/office/powerpoint/2010/main" val="17039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קבוצה 2"/>
          <p:cNvGrpSpPr/>
          <p:nvPr/>
        </p:nvGrpSpPr>
        <p:grpSpPr>
          <a:xfrm>
            <a:off x="1798662" y="2124464"/>
            <a:ext cx="2491582" cy="3402953"/>
            <a:chOff x="567041" y="1738632"/>
            <a:chExt cx="2491582" cy="3402953"/>
          </a:xfrm>
        </p:grpSpPr>
        <p:pic>
          <p:nvPicPr>
            <p:cNvPr id="6" name="תמונה 5" descr="3d glob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925" y="1738632"/>
              <a:ext cx="1723476" cy="1652543"/>
            </a:xfrm>
            <a:prstGeom prst="rect">
              <a:avLst/>
            </a:prstGeom>
          </p:spPr>
        </p:pic>
        <p:sp>
          <p:nvSpPr>
            <p:cNvPr id="7" name="חץ ימינה 6"/>
            <p:cNvSpPr/>
            <p:nvPr/>
          </p:nvSpPr>
          <p:spPr>
            <a:xfrm rot="5400000">
              <a:off x="1597124" y="3507116"/>
              <a:ext cx="403077" cy="246422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8" name="תמונה 7" descr="2d globe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041" y="3895794"/>
              <a:ext cx="2491582" cy="1245791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422552" y="2564904"/>
            <a:ext cx="252028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10" name="כותרת 1"/>
          <p:cNvSpPr txBox="1">
            <a:spLocks/>
          </p:cNvSpPr>
          <p:nvPr/>
        </p:nvSpPr>
        <p:spPr>
          <a:xfrm>
            <a:off x="0" y="562593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80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היטלים</a:t>
            </a:r>
          </a:p>
        </p:txBody>
      </p:sp>
      <p:sp>
        <p:nvSpPr>
          <p:cNvPr id="11" name="מציין מיקום תוכן 2"/>
          <p:cNvSpPr txBox="1">
            <a:spLocks/>
          </p:cNvSpPr>
          <p:nvPr/>
        </p:nvSpPr>
        <p:spPr>
          <a:xfrm>
            <a:off x="1224730" y="1489630"/>
            <a:ext cx="9355104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lang="he-IL" u="sng" dirty="0">
                <a:solidFill>
                  <a:schemeClr val="accent3">
                    <a:lumMod val="75000"/>
                  </a:schemeClr>
                </a:solidFill>
                <a:cs typeface="Assistant ExtraBold" panose="00000900000000000000" pitchFamily="2" charset="-79"/>
              </a:rPr>
              <a:t>היטל</a:t>
            </a:r>
            <a:r>
              <a:rPr lang="he-IL" dirty="0">
                <a:solidFill>
                  <a:schemeClr val="accent3">
                    <a:lumMod val="75000"/>
                  </a:schemeClr>
                </a:solidFill>
                <a:cs typeface="Assistant ExtraBold" panose="00000900000000000000" pitchFamily="2" charset="-79"/>
              </a:rPr>
              <a:t> – מעבר מעולם תלת ממדי לדו ממדי</a:t>
            </a:r>
          </a:p>
          <a:p>
            <a:pPr>
              <a:lnSpc>
                <a:spcPct val="100000"/>
              </a:lnSpc>
              <a:buNone/>
            </a:pPr>
            <a:r>
              <a:rPr lang="he-IL" dirty="0">
                <a:cs typeface="Assistant ExtraBold" panose="00000900000000000000" pitchFamily="2" charset="-79"/>
              </a:rPr>
              <a:t>קיימות שלוש שיטות הטלה:</a:t>
            </a:r>
          </a:p>
          <a:p>
            <a:pPr lvl="1">
              <a:lnSpc>
                <a:spcPct val="100000"/>
              </a:lnSpc>
            </a:pPr>
            <a:r>
              <a:rPr lang="he-IL" sz="2800" dirty="0">
                <a:cs typeface="Assistant ExtraBold" panose="00000900000000000000" pitchFamily="2" charset="-79"/>
              </a:rPr>
              <a:t>גלילי</a:t>
            </a:r>
          </a:p>
          <a:p>
            <a:pPr lvl="1">
              <a:lnSpc>
                <a:spcPct val="100000"/>
              </a:lnSpc>
            </a:pPr>
            <a:r>
              <a:rPr lang="he-IL" sz="2800" dirty="0">
                <a:cs typeface="Assistant ExtraBold" panose="00000900000000000000" pitchFamily="2" charset="-79"/>
              </a:rPr>
              <a:t>חרוטי</a:t>
            </a:r>
          </a:p>
          <a:p>
            <a:pPr lvl="1">
              <a:lnSpc>
                <a:spcPct val="100000"/>
              </a:lnSpc>
            </a:pPr>
            <a:r>
              <a:rPr lang="he-IL" sz="2800" dirty="0">
                <a:cs typeface="Assistant ExtraBold" panose="00000900000000000000" pitchFamily="2" charset="-79"/>
              </a:rPr>
              <a:t>אזימוטלי</a:t>
            </a:r>
          </a:p>
          <a:p>
            <a:pPr lvl="1">
              <a:lnSpc>
                <a:spcPct val="100000"/>
              </a:lnSpc>
            </a:pPr>
            <a:endParaRPr lang="he-IL" sz="2800" dirty="0">
              <a:cs typeface="Assistant ExtraBold" panose="00000900000000000000" pitchFamily="2" charset="-79"/>
            </a:endParaRPr>
          </a:p>
          <a:p>
            <a:pPr>
              <a:lnSpc>
                <a:spcPct val="100000"/>
              </a:lnSpc>
              <a:buNone/>
            </a:pPr>
            <a:r>
              <a:rPr lang="he-IL" dirty="0">
                <a:cs typeface="Assistant ExtraBold" panose="00000900000000000000" pitchFamily="2" charset="-79"/>
              </a:rPr>
              <a:t>קיימים שני היטלים מרכזיים:</a:t>
            </a:r>
          </a:p>
          <a:p>
            <a:pPr lvl="1">
              <a:lnSpc>
                <a:spcPct val="100000"/>
              </a:lnSpc>
            </a:pPr>
            <a:r>
              <a:rPr lang="he-IL" sz="2800" dirty="0">
                <a:cs typeface="Assistant ExtraBold" panose="00000900000000000000" pitchFamily="2" charset="-79"/>
              </a:rPr>
              <a:t>גיאוגרפי</a:t>
            </a:r>
          </a:p>
          <a:p>
            <a:pPr lvl="1">
              <a:lnSpc>
                <a:spcPct val="100000"/>
              </a:lnSpc>
            </a:pPr>
            <a:r>
              <a:rPr lang="he-IL" sz="2800" dirty="0">
                <a:cs typeface="Assistant ExtraBold" panose="00000900000000000000" pitchFamily="2" charset="-79"/>
              </a:rPr>
              <a:t>היטל </a:t>
            </a:r>
            <a:r>
              <a:rPr lang="en-US" sz="2800" dirty="0">
                <a:latin typeface="Adobe Gothic Std B" panose="020B0800000000000000" pitchFamily="34" charset="-128"/>
                <a:ea typeface="Adobe Gothic Std B" panose="020B0800000000000000" pitchFamily="34" charset="-128"/>
                <a:cs typeface="Assistant ExtraBold" panose="00000900000000000000" pitchFamily="2" charset="-79"/>
              </a:rPr>
              <a:t>UTM</a:t>
            </a:r>
            <a:endParaRPr lang="he-IL" sz="2800" dirty="0">
              <a:latin typeface="Adobe Gothic Std B" panose="020B0800000000000000" pitchFamily="34" charset="-128"/>
              <a:ea typeface="Adobe Gothic Std B" panose="020B0800000000000000" pitchFamily="34" charset="-128"/>
              <a:cs typeface="Assistant ExtraBold" panose="00000900000000000000" pitchFamily="2" charset="-79"/>
            </a:endParaRPr>
          </a:p>
          <a:p>
            <a:pPr lvl="1">
              <a:lnSpc>
                <a:spcPct val="100000"/>
              </a:lnSpc>
              <a:buNone/>
            </a:pPr>
            <a:endParaRPr lang="he-IL" sz="2800" dirty="0">
              <a:cs typeface="Assistant ExtraBold" panose="00000900000000000000" pitchFamily="2" charset="-79"/>
            </a:endParaRPr>
          </a:p>
        </p:txBody>
      </p:sp>
      <p:sp>
        <p:nvSpPr>
          <p:cNvPr id="13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073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3" descr="projections.jpg"/>
          <p:cNvPicPr>
            <a:picLocks noGrp="1" noChangeAspect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0" y="1617663"/>
            <a:ext cx="6654800" cy="4525962"/>
          </a:xfrm>
        </p:spPr>
      </p:pic>
      <p:sp>
        <p:nvSpPr>
          <p:cNvPr id="6" name="כותרת 1"/>
          <p:cNvSpPr txBox="1">
            <a:spLocks/>
          </p:cNvSpPr>
          <p:nvPr/>
        </p:nvSpPr>
        <p:spPr>
          <a:xfrm>
            <a:off x="-288099" y="291449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13800" dirty="0">
                <a:solidFill>
                  <a:schemeClr val="tx1"/>
                </a:solidFill>
                <a:cs typeface="Assistant ExtraBold" panose="00000900000000000000" pitchFamily="2" charset="-79"/>
              </a:rPr>
              <a:t>שיטות הטלה</a:t>
            </a:r>
          </a:p>
        </p:txBody>
      </p:sp>
      <p:sp>
        <p:nvSpPr>
          <p:cNvPr id="7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4617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635" b="91617" l="14789" r="87071">
                        <a14:foregroundMark x1="21450" y1="69012" x2="36631" y2="87575"/>
                        <a14:foregroundMark x1="22723" y1="62275" x2="17336" y2="70958"/>
                        <a14:foregroundMark x1="22037" y1="62275" x2="17434" y2="71707"/>
                        <a14:foregroundMark x1="16846" y1="71856" x2="28110" y2="71557"/>
                        <a14:foregroundMark x1="27326" y1="71557" x2="17434" y2="72455"/>
                        <a14:foregroundMark x1="22233" y1="61377" x2="17630" y2="69611"/>
                        <a14:foregroundMark x1="24878" y1="65719" x2="27032" y2="68713"/>
                        <a14:foregroundMark x1="29089" y1="74251" x2="24388" y2="63024"/>
                        <a14:foregroundMark x1="42311" y1="61377" x2="51028" y2="76946"/>
                        <a14:foregroundMark x1="49853" y1="75898" x2="41430" y2="75449"/>
                        <a14:foregroundMark x1="42116" y1="75449" x2="47894" y2="76497"/>
                        <a14:foregroundMark x1="47992" y1="76647" x2="44270" y2="76796"/>
                        <a14:foregroundMark x1="50735" y1="63323" x2="43585" y2="60329"/>
                        <a14:foregroundMark x1="41724" y1="65569" x2="41724" y2="71707"/>
                        <a14:foregroundMark x1="41724" y1="71707" x2="41332" y2="66018"/>
                        <a14:foregroundMark x1="42605" y1="62725" x2="50441" y2="61826"/>
                        <a14:foregroundMark x1="60431" y1="90719" x2="66210" y2="90868"/>
                        <a14:foregroundMark x1="72674" y1="60629" x2="81293" y2="88024"/>
                        <a14:foregroundMark x1="79824" y1="61377" x2="67189" y2="61677"/>
                        <a14:foregroundMark x1="67581" y1="61677" x2="78452" y2="60030"/>
                        <a14:foregroundMark x1="78942" y1="60030" x2="67091" y2="61228"/>
                        <a14:foregroundMark x1="66895" y1="61228" x2="80118" y2="64371"/>
                        <a14:foregroundMark x1="79824" y1="64521" x2="76690" y2="69760"/>
                        <a14:foregroundMark x1="78942" y1="69461" x2="77081" y2="67216"/>
                        <a14:foregroundMark x1="75906" y1="61826" x2="66503" y2="62874"/>
                        <a14:foregroundMark x1="70127" y1="62874" x2="68854" y2="72605"/>
                        <a14:foregroundMark x1="68854" y1="73054" x2="69540" y2="63623"/>
                        <a14:foregroundMark x1="69246" y1="71557" x2="72772" y2="77395"/>
                        <a14:foregroundMark x1="51714" y1="62725" x2="51224" y2="75599"/>
                        <a14:foregroundMark x1="51910" y1="63174" x2="49853" y2="59581"/>
                        <a14:foregroundMark x1="50049" y1="59581" x2="45250" y2="59731"/>
                        <a14:foregroundMark x1="46915" y1="59731" x2="42311" y2="59880"/>
                        <a14:foregroundMark x1="42997" y1="59880" x2="40451" y2="61677"/>
                        <a14:foregroundMark x1="41332" y1="61527" x2="40646" y2="76647"/>
                        <a14:foregroundMark x1="40646" y1="76647" x2="50735" y2="78293"/>
                        <a14:foregroundMark x1="29285" y1="72455" x2="22527" y2="58832"/>
                        <a14:foregroundMark x1="22527" y1="58832" x2="16454" y2="71856"/>
                        <a14:foregroundMark x1="16454" y1="71856" x2="17826" y2="72904"/>
                        <a14:foregroundMark x1="17728" y1="72904" x2="16259" y2="72754"/>
                      </a14:backgroundRemoval>
                    </a14:imgEffect>
                  </a14:imgLayer>
                </a14:imgProps>
              </a:ext>
            </a:extLst>
          </a:blip>
          <a:srcRect l="15940" t="56790" r="12978" b="8126"/>
          <a:stretch>
            <a:fillRect/>
          </a:stretch>
        </p:blipFill>
        <p:spPr bwMode="auto">
          <a:xfrm>
            <a:off x="1524653" y="2511766"/>
            <a:ext cx="9142693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מציין מיקום תוכן 2"/>
          <p:cNvSpPr txBox="1">
            <a:spLocks/>
          </p:cNvSpPr>
          <p:nvPr/>
        </p:nvSpPr>
        <p:spPr>
          <a:xfrm>
            <a:off x="1457574" y="1332735"/>
            <a:ext cx="9402452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lang="he-IL" dirty="0">
              <a:cs typeface="Assistant ExtraBold" panose="00000900000000000000" pitchFamily="2" charset="-79"/>
            </a:endParaRPr>
          </a:p>
          <a:p>
            <a:pPr algn="ctr">
              <a:buNone/>
            </a:pPr>
            <a:r>
              <a:rPr lang="he-IL" dirty="0">
                <a:cs typeface="Assistant ExtraBold" panose="00000900000000000000" pitchFamily="2" charset="-79"/>
              </a:rPr>
              <a:t>   </a:t>
            </a:r>
            <a:r>
              <a:rPr lang="he-IL" sz="3600" u="sng" dirty="0">
                <a:cs typeface="Assistant ExtraBold" panose="00000900000000000000" pitchFamily="2" charset="-79"/>
              </a:rPr>
              <a:t>אזימוטלי</a:t>
            </a:r>
            <a:r>
              <a:rPr lang="he-IL" sz="3600" dirty="0">
                <a:cs typeface="Assistant ExtraBold" panose="00000900000000000000" pitchFamily="2" charset="-79"/>
              </a:rPr>
              <a:t>		        </a:t>
            </a:r>
            <a:r>
              <a:rPr lang="he-IL" sz="3600" u="sng" dirty="0">
                <a:cs typeface="Assistant ExtraBold" panose="00000900000000000000" pitchFamily="2" charset="-79"/>
              </a:rPr>
              <a:t>גלילי</a:t>
            </a:r>
            <a:r>
              <a:rPr lang="he-IL" sz="3600" dirty="0">
                <a:cs typeface="Assistant ExtraBold" panose="00000900000000000000" pitchFamily="2" charset="-79"/>
              </a:rPr>
              <a:t>		          </a:t>
            </a:r>
            <a:r>
              <a:rPr lang="he-IL" sz="3600" u="sng" dirty="0">
                <a:cs typeface="Assistant ExtraBold" panose="00000900000000000000" pitchFamily="2" charset="-79"/>
              </a:rPr>
              <a:t>חרוטי</a:t>
            </a:r>
            <a:endParaRPr lang="he-IL" u="sng" dirty="0">
              <a:cs typeface="Assistant ExtraBold" panose="00000900000000000000" pitchFamily="2" charset="-79"/>
            </a:endParaRPr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10" name="כותרת 1"/>
          <p:cNvSpPr txBox="1">
            <a:spLocks/>
          </p:cNvSpPr>
          <p:nvPr/>
        </p:nvSpPr>
        <p:spPr>
          <a:xfrm>
            <a:off x="0" y="562922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8000" dirty="0">
                <a:solidFill>
                  <a:schemeClr val="tx1"/>
                </a:solidFill>
                <a:cs typeface="Assistant ExtraBold" panose="00000900000000000000" pitchFamily="2" charset="-79"/>
              </a:rPr>
              <a:t>שיטות הטלה</a:t>
            </a:r>
          </a:p>
        </p:txBody>
      </p:sp>
    </p:spTree>
    <p:extLst>
      <p:ext uri="{BB962C8B-B14F-4D97-AF65-F5344CB8AC3E}">
        <p14:creationId xmlns:p14="http://schemas.microsoft.com/office/powerpoint/2010/main" val="329253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 descr="Geographic projection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88813" y="3833755"/>
            <a:ext cx="5214373" cy="2592288"/>
          </a:xfrm>
          <a:prstGeom prst="rect">
            <a:avLst/>
          </a:prstGeom>
        </p:spPr>
      </p:pic>
      <p:sp>
        <p:nvSpPr>
          <p:cNvPr id="10" name="מציין מיקום תוכן 2"/>
          <p:cNvSpPr txBox="1">
            <a:spLocks/>
          </p:cNvSpPr>
          <p:nvPr/>
        </p:nvSpPr>
        <p:spPr>
          <a:xfrm>
            <a:off x="1318792" y="1537415"/>
            <a:ext cx="9722048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400" dirty="0" err="1">
                <a:cs typeface="Assistant ExtraBold" panose="00000900000000000000" pitchFamily="2" charset="-79"/>
              </a:rPr>
              <a:t>האליפסואיד</a:t>
            </a:r>
            <a:r>
              <a:rPr lang="he-IL" sz="2400" dirty="0">
                <a:cs typeface="Assistant ExtraBold" panose="00000900000000000000" pitchFamily="2" charset="-79"/>
              </a:rPr>
              <a:t> מחולק ל360 חלקים לאורך ול180 חלקים לרוחב.</a:t>
            </a:r>
          </a:p>
          <a:p>
            <a:r>
              <a:rPr lang="he-IL" sz="2400" dirty="0">
                <a:cs typeface="Assistant ExtraBold" panose="00000900000000000000" pitchFamily="2" charset="-79"/>
              </a:rPr>
              <a:t>כל נקודה\עצם יוגדרו ע"י שני פרמטרים של רוחב ואורך.</a:t>
            </a:r>
          </a:p>
          <a:p>
            <a:pPr lvl="1"/>
            <a:r>
              <a:rPr lang="he-IL" dirty="0">
                <a:cs typeface="Assistant ExtraBold" panose="00000900000000000000" pitchFamily="2" charset="-79"/>
              </a:rPr>
              <a:t>רוחב </a:t>
            </a:r>
            <a:r>
              <a:rPr lang="el-GR" dirty="0">
                <a:cs typeface="Assistant ExtraBold" panose="00000900000000000000" pitchFamily="2" charset="-79"/>
              </a:rPr>
              <a:t>ϕ</a:t>
            </a:r>
            <a:r>
              <a:rPr lang="he-IL" dirty="0">
                <a:cs typeface="Assistant ExtraBold" panose="00000900000000000000" pitchFamily="2" charset="-79"/>
              </a:rPr>
              <a:t> – נמדד מקו המשווה צפונה (ערך חיובי) ודרומה (ערך שלילי). קווי הרוחב נקראים פרללות.</a:t>
            </a:r>
          </a:p>
          <a:p>
            <a:pPr lvl="1"/>
            <a:r>
              <a:rPr lang="he-IL" dirty="0">
                <a:cs typeface="Assistant ExtraBold" panose="00000900000000000000" pitchFamily="2" charset="-79"/>
              </a:rPr>
              <a:t>אורך </a:t>
            </a:r>
            <a:r>
              <a:rPr lang="el-GR" dirty="0">
                <a:cs typeface="Assistant ExtraBold" panose="00000900000000000000" pitchFamily="2" charset="-79"/>
              </a:rPr>
              <a:t>λ</a:t>
            </a:r>
            <a:r>
              <a:rPr lang="he-IL" dirty="0">
                <a:cs typeface="Assistant ExtraBold" panose="00000900000000000000" pitchFamily="2" charset="-79"/>
              </a:rPr>
              <a:t> – נמדד מקו האורך </a:t>
            </a:r>
            <a:r>
              <a:rPr lang="he-IL" dirty="0" err="1">
                <a:cs typeface="Assistant ExtraBold" panose="00000900000000000000" pitchFamily="2" charset="-79"/>
              </a:rPr>
              <a:t>גריניץ</a:t>
            </a:r>
            <a:r>
              <a:rPr lang="he-IL" dirty="0">
                <a:cs typeface="Assistant ExtraBold" panose="00000900000000000000" pitchFamily="2" charset="-79"/>
              </a:rPr>
              <a:t> ', שנקבע כאפס מזרחה (חיובי) ומערבה (שלילי). קווי האורך נקראים מרידיאנים.</a:t>
            </a:r>
          </a:p>
        </p:txBody>
      </p:sp>
      <p:sp>
        <p:nvSpPr>
          <p:cNvPr id="8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11" name="כותרת 1"/>
          <p:cNvSpPr txBox="1">
            <a:spLocks/>
          </p:cNvSpPr>
          <p:nvPr/>
        </p:nvSpPr>
        <p:spPr>
          <a:xfrm>
            <a:off x="0" y="59295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6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מערכת קואורדינטות גיאוגרפית</a:t>
            </a:r>
          </a:p>
          <a:p>
            <a:pPr algn="ctr"/>
            <a:r>
              <a:rPr lang="he-IL" sz="48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 </a:t>
            </a:r>
            <a:r>
              <a:rPr lang="en-US" sz="48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GEO</a:t>
            </a:r>
            <a:endParaRPr lang="he-IL" sz="48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8770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/>
          <p:cNvGrpSpPr/>
          <p:nvPr/>
        </p:nvGrpSpPr>
        <p:grpSpPr>
          <a:xfrm>
            <a:off x="2185220" y="2200851"/>
            <a:ext cx="7821560" cy="3888432"/>
            <a:chOff x="2304893" y="1969398"/>
            <a:chExt cx="7821560" cy="3888432"/>
          </a:xfrm>
        </p:grpSpPr>
        <p:pic>
          <p:nvPicPr>
            <p:cNvPr id="6" name="תמונה 6" descr="Geographic projection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4893" y="1969398"/>
              <a:ext cx="7821560" cy="3888432"/>
            </a:xfrm>
            <a:prstGeom prst="rect">
              <a:avLst/>
            </a:prstGeom>
          </p:spPr>
        </p:pic>
        <p:sp>
          <p:nvSpPr>
            <p:cNvPr id="7" name="Oval 4"/>
            <p:cNvSpPr/>
            <p:nvPr/>
          </p:nvSpPr>
          <p:spPr>
            <a:xfrm>
              <a:off x="7649179" y="440809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21187" y="4295440"/>
              <a:ext cx="1136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2">
                      <a:lumMod val="25000"/>
                    </a:schemeClr>
                  </a:solidFill>
                </a:rPr>
                <a:t>(</a:t>
              </a:r>
              <a:r>
                <a:rPr lang="he-IL" b="1" dirty="0">
                  <a:solidFill>
                    <a:schemeClr val="tx2">
                      <a:lumMod val="25000"/>
                    </a:schemeClr>
                  </a:solidFill>
                </a:rPr>
                <a:t>90</a:t>
              </a:r>
              <a:r>
                <a:rPr lang="en-US" b="1" dirty="0">
                  <a:solidFill>
                    <a:schemeClr val="tx2">
                      <a:lumMod val="25000"/>
                    </a:schemeClr>
                  </a:solidFill>
                </a:rPr>
                <a:t>E,</a:t>
              </a:r>
              <a:r>
                <a:rPr lang="he-IL" b="1" dirty="0">
                  <a:solidFill>
                    <a:schemeClr val="tx2">
                      <a:lumMod val="25000"/>
                    </a:schemeClr>
                  </a:solidFill>
                </a:rPr>
                <a:t>30</a:t>
              </a:r>
              <a:r>
                <a:rPr lang="en-US" b="1" dirty="0">
                  <a:solidFill>
                    <a:schemeClr val="tx2">
                      <a:lumMod val="25000"/>
                    </a:schemeClr>
                  </a:solidFill>
                </a:rPr>
                <a:t>S)</a:t>
              </a:r>
            </a:p>
          </p:txBody>
        </p:sp>
      </p:grpSp>
      <p:sp>
        <p:nvSpPr>
          <p:cNvPr id="12" name="מציין מיקום תוכן 2"/>
          <p:cNvSpPr txBox="1">
            <a:spLocks/>
          </p:cNvSpPr>
          <p:nvPr/>
        </p:nvSpPr>
        <p:spPr>
          <a:xfrm>
            <a:off x="1697595" y="1556827"/>
            <a:ext cx="879681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dirty="0">
                <a:cs typeface="Assistant ExtraBold" panose="00000900000000000000" pitchFamily="2" charset="-79"/>
              </a:rPr>
              <a:t>דוגמה לנ"צ גיאוגרפי:</a:t>
            </a:r>
            <a:endParaRPr lang="en-US" dirty="0">
              <a:cs typeface="Assistant ExtraBold" panose="00000900000000000000" pitchFamily="2" charset="-79"/>
            </a:endParaRPr>
          </a:p>
        </p:txBody>
      </p:sp>
      <p:sp>
        <p:nvSpPr>
          <p:cNvPr id="14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16" name="כותרת 1"/>
          <p:cNvSpPr txBox="1">
            <a:spLocks/>
          </p:cNvSpPr>
          <p:nvPr/>
        </p:nvSpPr>
        <p:spPr>
          <a:xfrm>
            <a:off x="0" y="59295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6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מערכת קואורדינטות גיאוגרפית</a:t>
            </a:r>
          </a:p>
          <a:p>
            <a:pPr algn="ctr"/>
            <a:r>
              <a:rPr lang="he-IL" sz="48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 </a:t>
            </a:r>
            <a:r>
              <a:rPr lang="en-US" sz="48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GEO</a:t>
            </a:r>
            <a:endParaRPr lang="he-IL" sz="48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6930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/>
          <p:cNvGrpSpPr/>
          <p:nvPr/>
        </p:nvGrpSpPr>
        <p:grpSpPr>
          <a:xfrm>
            <a:off x="2185220" y="2334685"/>
            <a:ext cx="7821560" cy="3888432"/>
            <a:chOff x="2186360" y="2415802"/>
            <a:chExt cx="7821560" cy="3888432"/>
          </a:xfrm>
        </p:grpSpPr>
        <p:pic>
          <p:nvPicPr>
            <p:cNvPr id="6" name="תמונה 6" descr="Geographic projection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6360" y="2415802"/>
              <a:ext cx="7821560" cy="3888432"/>
            </a:xfrm>
            <a:prstGeom prst="rect">
              <a:avLst/>
            </a:prstGeom>
          </p:spPr>
        </p:pic>
        <p:sp>
          <p:nvSpPr>
            <p:cNvPr id="7" name="Oval 4"/>
            <p:cNvSpPr/>
            <p:nvPr/>
          </p:nvSpPr>
          <p:spPr>
            <a:xfrm>
              <a:off x="7306187" y="396848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מציין מיקום תוכן 2"/>
          <p:cNvSpPr txBox="1">
            <a:spLocks/>
          </p:cNvSpPr>
          <p:nvPr/>
        </p:nvSpPr>
        <p:spPr>
          <a:xfrm>
            <a:off x="1697595" y="1668853"/>
            <a:ext cx="879681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dirty="0">
                <a:cs typeface="Assistant ExtraBold" panose="00000900000000000000" pitchFamily="2" charset="-79"/>
              </a:rPr>
              <a:t>ומה </a:t>
            </a:r>
            <a:r>
              <a:rPr lang="he-IL" dirty="0" err="1">
                <a:cs typeface="Assistant ExtraBold" panose="00000900000000000000" pitchFamily="2" charset="-79"/>
              </a:rPr>
              <a:t>הנ.צ</a:t>
            </a:r>
            <a:r>
              <a:rPr lang="he-IL" dirty="0">
                <a:cs typeface="Assistant ExtraBold" panose="00000900000000000000" pitchFamily="2" charset="-79"/>
              </a:rPr>
              <a:t> הבא</a:t>
            </a:r>
            <a:r>
              <a:rPr lang="en-US" dirty="0">
                <a:cs typeface="Assistant ExtraBold" panose="00000900000000000000" pitchFamily="2" charset="-79"/>
              </a:rPr>
              <a:t> </a:t>
            </a:r>
            <a:r>
              <a:rPr lang="he-IL" dirty="0">
                <a:cs typeface="Assistant ExtraBold" panose="00000900000000000000" pitchFamily="2" charset="-79"/>
              </a:rPr>
              <a:t>?</a:t>
            </a:r>
            <a:endParaRPr lang="en-US" dirty="0">
              <a:cs typeface="Assistant ExtraBold" panose="00000900000000000000" pitchFamily="2" charset="-79"/>
            </a:endParaRPr>
          </a:p>
        </p:txBody>
      </p:sp>
      <p:sp>
        <p:nvSpPr>
          <p:cNvPr id="13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15" name="כותרת 1"/>
          <p:cNvSpPr txBox="1">
            <a:spLocks/>
          </p:cNvSpPr>
          <p:nvPr/>
        </p:nvSpPr>
        <p:spPr>
          <a:xfrm>
            <a:off x="0" y="59295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6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מערכת קואורדינטות גיאוגרפית</a:t>
            </a:r>
          </a:p>
          <a:p>
            <a:pPr algn="ctr"/>
            <a:r>
              <a:rPr lang="he-IL" sz="48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 </a:t>
            </a:r>
            <a:r>
              <a:rPr lang="en-US" sz="48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GEO</a:t>
            </a:r>
            <a:endParaRPr lang="he-IL" sz="48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5606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/>
          <p:cNvGrpSpPr/>
          <p:nvPr/>
        </p:nvGrpSpPr>
        <p:grpSpPr>
          <a:xfrm>
            <a:off x="2185220" y="2334685"/>
            <a:ext cx="7821560" cy="3888432"/>
            <a:chOff x="2186360" y="2415802"/>
            <a:chExt cx="7821560" cy="3888432"/>
          </a:xfrm>
        </p:grpSpPr>
        <p:pic>
          <p:nvPicPr>
            <p:cNvPr id="6" name="תמונה 6" descr="Geographic projection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6360" y="2415802"/>
              <a:ext cx="7821560" cy="3888432"/>
            </a:xfrm>
            <a:prstGeom prst="rect">
              <a:avLst/>
            </a:prstGeom>
          </p:spPr>
        </p:pic>
        <p:sp>
          <p:nvSpPr>
            <p:cNvPr id="7" name="Oval 4"/>
            <p:cNvSpPr/>
            <p:nvPr/>
          </p:nvSpPr>
          <p:spPr>
            <a:xfrm>
              <a:off x="7306187" y="396848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מציין מיקום תוכן 2"/>
          <p:cNvSpPr txBox="1">
            <a:spLocks/>
          </p:cNvSpPr>
          <p:nvPr/>
        </p:nvSpPr>
        <p:spPr>
          <a:xfrm>
            <a:off x="1697595" y="1668853"/>
            <a:ext cx="879681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dirty="0">
                <a:cs typeface="Assistant ExtraBold" panose="00000900000000000000" pitchFamily="2" charset="-79"/>
              </a:rPr>
              <a:t>ומה </a:t>
            </a:r>
            <a:r>
              <a:rPr lang="he-IL" dirty="0" err="1">
                <a:cs typeface="Assistant ExtraBold" panose="00000900000000000000" pitchFamily="2" charset="-79"/>
              </a:rPr>
              <a:t>הנ.צ</a:t>
            </a:r>
            <a:r>
              <a:rPr lang="he-IL" dirty="0">
                <a:cs typeface="Assistant ExtraBold" panose="00000900000000000000" pitchFamily="2" charset="-79"/>
              </a:rPr>
              <a:t> הבא</a:t>
            </a:r>
            <a:r>
              <a:rPr lang="en-US" dirty="0">
                <a:cs typeface="Assistant ExtraBold" panose="00000900000000000000" pitchFamily="2" charset="-79"/>
              </a:rPr>
              <a:t> </a:t>
            </a:r>
            <a:r>
              <a:rPr lang="he-IL" dirty="0">
                <a:cs typeface="Assistant ExtraBold" panose="00000900000000000000" pitchFamily="2" charset="-79"/>
              </a:rPr>
              <a:t>?</a:t>
            </a:r>
            <a:endParaRPr lang="en-US" dirty="0">
              <a:cs typeface="Assistant ExtraBold" panose="00000900000000000000" pitchFamily="2" charset="-79"/>
            </a:endParaRPr>
          </a:p>
        </p:txBody>
      </p:sp>
      <p:sp>
        <p:nvSpPr>
          <p:cNvPr id="13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15" name="כותרת 1"/>
          <p:cNvSpPr txBox="1">
            <a:spLocks/>
          </p:cNvSpPr>
          <p:nvPr/>
        </p:nvSpPr>
        <p:spPr>
          <a:xfrm>
            <a:off x="0" y="59295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6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מערכת קואורדינטות גיאוגרפית</a:t>
            </a:r>
          </a:p>
          <a:p>
            <a:pPr algn="ctr"/>
            <a:r>
              <a:rPr lang="he-IL" sz="48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 </a:t>
            </a:r>
            <a:r>
              <a:rPr lang="en-US" sz="48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GEO</a:t>
            </a:r>
            <a:endParaRPr lang="he-IL" sz="48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5BD3D-D112-4EBB-AEAE-C60662C9C6CF}"/>
              </a:ext>
            </a:extLst>
          </p:cNvPr>
          <p:cNvSpPr txBox="1"/>
          <p:nvPr/>
        </p:nvSpPr>
        <p:spPr>
          <a:xfrm>
            <a:off x="6880956" y="3579588"/>
            <a:ext cx="113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25000"/>
                  </a:schemeClr>
                </a:solidFill>
              </a:rPr>
              <a:t>(</a:t>
            </a:r>
            <a:r>
              <a:rPr lang="he-IL" b="1" dirty="0">
                <a:solidFill>
                  <a:schemeClr val="tx2">
                    <a:lumMod val="25000"/>
                  </a:schemeClr>
                </a:solidFill>
              </a:rPr>
              <a:t>75</a:t>
            </a:r>
            <a:r>
              <a:rPr lang="en-US" b="1" dirty="0">
                <a:solidFill>
                  <a:schemeClr val="tx2">
                    <a:lumMod val="25000"/>
                  </a:schemeClr>
                </a:solidFill>
              </a:rPr>
              <a:t>E,</a:t>
            </a:r>
            <a:r>
              <a:rPr lang="he-IL" b="1" dirty="0">
                <a:solidFill>
                  <a:schemeClr val="tx2">
                    <a:lumMod val="25000"/>
                  </a:schemeClr>
                </a:solidFill>
              </a:rPr>
              <a:t>15</a:t>
            </a:r>
            <a:r>
              <a:rPr lang="en-US" b="1" dirty="0">
                <a:solidFill>
                  <a:schemeClr val="tx2">
                    <a:lumMod val="25000"/>
                  </a:schemeClr>
                </a:solidFill>
              </a:rPr>
              <a:t>N)</a:t>
            </a:r>
          </a:p>
        </p:txBody>
      </p:sp>
    </p:spTree>
    <p:extLst>
      <p:ext uri="{BB962C8B-B14F-4D97-AF65-F5344CB8AC3E}">
        <p14:creationId xmlns:p14="http://schemas.microsoft.com/office/powerpoint/2010/main" val="30793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159589"/>
              </p:ext>
            </p:extLst>
          </p:nvPr>
        </p:nvGraphicFramePr>
        <p:xfrm>
          <a:off x="2747628" y="3690926"/>
          <a:ext cx="6696744" cy="1371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29">
                <a:tc>
                  <a:txBody>
                    <a:bodyPr/>
                    <a:lstStyle/>
                    <a:p>
                      <a:pPr algn="ctr"/>
                      <a:r>
                        <a:rPr lang="he-IL" sz="2000" b="1" i="0" dirty="0">
                          <a:cs typeface="Assistant ExtraBold" panose="00000900000000000000" pitchFamily="2" charset="-79"/>
                        </a:rPr>
                        <a:t>חלוקה</a:t>
                      </a:r>
                      <a:r>
                        <a:rPr lang="he-IL" sz="2000" b="1" i="0" baseline="0" dirty="0">
                          <a:cs typeface="Assistant ExtraBold" panose="00000900000000000000" pitchFamily="2" charset="-79"/>
                        </a:rPr>
                        <a:t> ב-60</a:t>
                      </a:r>
                      <a:endParaRPr lang="en-US" sz="1400" b="1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b="1" i="0" dirty="0">
                          <a:cs typeface="Assistant ExtraBold" panose="00000900000000000000" pitchFamily="2" charset="-79"/>
                        </a:rPr>
                        <a:t>חלוקה ב-</a:t>
                      </a:r>
                      <a:r>
                        <a:rPr lang="en-US" sz="2000" b="1" i="0" dirty="0">
                          <a:cs typeface="Assistant ExtraBold" panose="00000900000000000000" pitchFamily="2" charset="-79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b="1" i="0" dirty="0">
                          <a:cs typeface="Assistant ExtraBold" panose="00000900000000000000" pitchFamily="2" charset="-79"/>
                        </a:rPr>
                        <a:t>יחידת מידה</a:t>
                      </a:r>
                      <a:endParaRPr lang="en-US" sz="2000" b="1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he-IL" sz="2000" i="0" dirty="0">
                          <a:cs typeface="Assistant ExtraBold" panose="00000900000000000000" pitchFamily="2" charset="-79"/>
                        </a:rPr>
                        <a:t>שנייה</a:t>
                      </a:r>
                      <a:endParaRPr lang="en-US" sz="2000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i="0" dirty="0">
                          <a:cs typeface="Assistant ExtraBold" panose="00000900000000000000" pitchFamily="2" charset="-79"/>
                        </a:rPr>
                        <a:t>דקה</a:t>
                      </a:r>
                      <a:endParaRPr lang="en-US" sz="2000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i="0" dirty="0">
                          <a:cs typeface="Assistant ExtraBold" panose="00000900000000000000" pitchFamily="2" charset="-79"/>
                        </a:rPr>
                        <a:t>שעה</a:t>
                      </a:r>
                      <a:endParaRPr lang="en-US" sz="2000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b="1" i="0" dirty="0">
                          <a:cs typeface="Assistant ExtraBold" panose="00000900000000000000" pitchFamily="2" charset="-79"/>
                        </a:rPr>
                        <a:t>זמן</a:t>
                      </a:r>
                      <a:endParaRPr lang="en-US" sz="2000" b="1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he-IL" sz="2000" i="0" dirty="0">
                          <a:cs typeface="Assistant ExtraBold" panose="00000900000000000000" pitchFamily="2" charset="-79"/>
                        </a:rPr>
                        <a:t>שנייה</a:t>
                      </a:r>
                      <a:endParaRPr lang="en-US" sz="2000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i="0" dirty="0">
                          <a:cs typeface="Assistant ExtraBold" panose="00000900000000000000" pitchFamily="2" charset="-79"/>
                        </a:rPr>
                        <a:t>דקה</a:t>
                      </a:r>
                      <a:endParaRPr lang="en-US" sz="2000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i="0" dirty="0">
                          <a:cs typeface="Assistant ExtraBold" panose="00000900000000000000" pitchFamily="2" charset="-79"/>
                        </a:rPr>
                        <a:t>מעלה</a:t>
                      </a:r>
                      <a:endParaRPr lang="en-US" sz="2000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b="1" i="0" dirty="0">
                          <a:cs typeface="Assistant ExtraBold" panose="00000900000000000000" pitchFamily="2" charset="-79"/>
                        </a:rPr>
                        <a:t>זווית</a:t>
                      </a:r>
                      <a:endParaRPr lang="en-US" sz="2000" b="1" i="0" dirty="0">
                        <a:cs typeface="Assistant ExtraBold" panose="000009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מציין מיקום תוכן 2"/>
          <p:cNvSpPr txBox="1">
            <a:spLocks/>
          </p:cNvSpPr>
          <p:nvPr/>
        </p:nvSpPr>
        <p:spPr>
          <a:xfrm>
            <a:off x="1266048" y="1681853"/>
            <a:ext cx="9659904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>
                <a:cs typeface="Assistant ExtraBold" panose="00000900000000000000" pitchFamily="2" charset="-79"/>
              </a:rPr>
              <a:t>דיבור על קואורדינאטות גיאוגרפיות במעלות שלמות שקול לדיבור על זמן בשעות שלמות או לדיבור על מרחק בק"מ שלמים.</a:t>
            </a:r>
          </a:p>
          <a:p>
            <a:r>
              <a:rPr lang="he-IL" dirty="0">
                <a:cs typeface="Assistant ExtraBold" panose="00000900000000000000" pitchFamily="2" charset="-79"/>
              </a:rPr>
              <a:t>ישנן יחידות מידה קטנות יותר, שבעזרתן נביע את הקואורדינטות בצורה יותר מדויקת.</a:t>
            </a:r>
            <a:endParaRPr lang="en-US" dirty="0">
              <a:cs typeface="Assistant ExtraBold" panose="00000900000000000000" pitchFamily="2" charset="-79"/>
            </a:endParaRPr>
          </a:p>
        </p:txBody>
      </p:sp>
      <p:sp>
        <p:nvSpPr>
          <p:cNvPr id="10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12" name="כותרת 1"/>
          <p:cNvSpPr txBox="1">
            <a:spLocks/>
          </p:cNvSpPr>
          <p:nvPr/>
        </p:nvSpPr>
        <p:spPr>
          <a:xfrm>
            <a:off x="0" y="59295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6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מערכת קואורדינטות גיאוגרפית</a:t>
            </a:r>
          </a:p>
          <a:p>
            <a:pPr algn="ctr"/>
            <a:r>
              <a:rPr lang="he-IL" sz="48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 </a:t>
            </a:r>
            <a:r>
              <a:rPr lang="en-US" sz="48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GEO</a:t>
            </a:r>
            <a:endParaRPr lang="he-IL" sz="48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234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610387"/>
              </p:ext>
            </p:extLst>
          </p:nvPr>
        </p:nvGraphicFramePr>
        <p:xfrm>
          <a:off x="2902084" y="2955569"/>
          <a:ext cx="6387832" cy="2274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849">
                <a:tc>
                  <a:txBody>
                    <a:bodyPr/>
                    <a:lstStyle/>
                    <a:p>
                      <a:pPr algn="ctr"/>
                      <a:r>
                        <a:rPr lang="he-IL" sz="1600" dirty="0">
                          <a:latin typeface="Arial Black" panose="020B0A04020102090204" pitchFamily="34" charset="0"/>
                          <a:cs typeface="+mj-cs"/>
                        </a:rPr>
                        <a:t>סוג</a:t>
                      </a:r>
                      <a:r>
                        <a:rPr lang="he-IL" sz="1600" baseline="0" dirty="0">
                          <a:latin typeface="Arial Black" panose="020B0A04020102090204" pitchFamily="34" charset="0"/>
                          <a:cs typeface="+mj-cs"/>
                        </a:rPr>
                        <a:t> ההצגה</a:t>
                      </a:r>
                      <a:endParaRPr lang="en-US" sz="1600" dirty="0">
                        <a:latin typeface="Arial Black" panose="020B0A04020102090204" pitchFamily="34" charset="0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Longitude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Latitude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35.1234°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33.5678°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35°07.404’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33°34.068’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DMS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35°07’24.24”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33°34’04.08”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8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126444.24”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120844.08”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90204" pitchFamily="34" charset="0"/>
                          <a:cs typeface="+mj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מציין מיקום תוכן 2"/>
          <p:cNvSpPr txBox="1">
            <a:spLocks/>
          </p:cNvSpPr>
          <p:nvPr/>
        </p:nvSpPr>
        <p:spPr>
          <a:xfrm>
            <a:off x="1697595" y="1730285"/>
            <a:ext cx="879681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3200" dirty="0">
                <a:cs typeface="Assistant ExtraBold" panose="00000900000000000000" pitchFamily="2" charset="-79"/>
              </a:rPr>
              <a:t>הטבלה הבאה מתארת קואורדינטות גיאוגרפיות לדוגמה וסוג ההצגה שלהן:</a:t>
            </a:r>
            <a:endParaRPr lang="en-US" sz="3200" dirty="0">
              <a:cs typeface="Assistant ExtraBold" panose="00000900000000000000" pitchFamily="2" charset="-79"/>
            </a:endParaRPr>
          </a:p>
        </p:txBody>
      </p:sp>
      <p:sp>
        <p:nvSpPr>
          <p:cNvPr id="10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11" name="כותרת 1"/>
          <p:cNvSpPr txBox="1">
            <a:spLocks/>
          </p:cNvSpPr>
          <p:nvPr/>
        </p:nvSpPr>
        <p:spPr>
          <a:xfrm>
            <a:off x="0" y="59295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6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מערכת קואורדינטות גיאוגרפית</a:t>
            </a:r>
          </a:p>
          <a:p>
            <a:pPr algn="ctr"/>
            <a:r>
              <a:rPr lang="he-IL" sz="48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 </a:t>
            </a:r>
            <a:r>
              <a:rPr lang="en-US" sz="48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GEO</a:t>
            </a:r>
            <a:endParaRPr lang="he-IL" sz="48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0789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תוכן 2"/>
          <p:cNvSpPr txBox="1">
            <a:spLocks/>
          </p:cNvSpPr>
          <p:nvPr/>
        </p:nvSpPr>
        <p:spPr>
          <a:xfrm>
            <a:off x="1979696" y="1946427"/>
            <a:ext cx="879681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200" b="1" u="sng" dirty="0">
                <a:cs typeface="+mj-cs"/>
              </a:rPr>
              <a:t>יתרונות:</a:t>
            </a:r>
          </a:p>
          <a:p>
            <a:pPr lvl="1"/>
            <a:r>
              <a:rPr lang="he-IL" sz="2800" dirty="0">
                <a:cs typeface="+mj-cs"/>
              </a:rPr>
              <a:t>גלובלית</a:t>
            </a:r>
          </a:p>
          <a:p>
            <a:pPr lvl="1"/>
            <a:r>
              <a:rPr lang="he-IL" sz="2800" dirty="0">
                <a:cs typeface="+mj-cs"/>
              </a:rPr>
              <a:t>אינטואיטיבית</a:t>
            </a:r>
          </a:p>
          <a:p>
            <a:pPr marL="0" indent="0">
              <a:buNone/>
            </a:pPr>
            <a:r>
              <a:rPr lang="he-IL" sz="3200" b="1" u="sng" dirty="0">
                <a:cs typeface="+mj-cs"/>
              </a:rPr>
              <a:t>חסרונות:</a:t>
            </a:r>
          </a:p>
          <a:p>
            <a:pPr lvl="1"/>
            <a:r>
              <a:rPr lang="he-IL" sz="2800" dirty="0">
                <a:cs typeface="+mj-cs"/>
              </a:rPr>
              <a:t>דורשות מתמטיקה גבוהה</a:t>
            </a:r>
          </a:p>
          <a:p>
            <a:pPr lvl="1"/>
            <a:r>
              <a:rPr lang="he-IL" sz="2800" dirty="0">
                <a:cs typeface="+mj-cs"/>
              </a:rPr>
              <a:t>יחידות זוויתיות ולא מטריות</a:t>
            </a:r>
          </a:p>
          <a:p>
            <a:pPr lvl="1"/>
            <a:r>
              <a:rPr lang="he-IL" sz="2800" dirty="0">
                <a:cs typeface="+mj-cs"/>
              </a:rPr>
              <a:t>פיזור לא אחיד</a:t>
            </a:r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0" y="74889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6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מערכת קואורדינטות גיאוגרפית</a:t>
            </a:r>
          </a:p>
          <a:p>
            <a:pPr algn="ctr"/>
            <a:r>
              <a:rPr lang="he-IL" sz="4800" dirty="0">
                <a:solidFill>
                  <a:schemeClr val="tx1"/>
                </a:solidFill>
                <a:cs typeface="Assistant ExtraBold" panose="00000900000000000000" pitchFamily="2" charset="-79"/>
              </a:rPr>
              <a:t>היטל </a:t>
            </a:r>
            <a:r>
              <a:rPr lang="en-US" sz="48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GEO</a:t>
            </a:r>
            <a:endParaRPr lang="he-IL" sz="48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8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5737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גליל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399" y="3004840"/>
            <a:ext cx="4267200" cy="2855912"/>
          </a:xfrm>
          <a:prstGeom prst="rect">
            <a:avLst/>
          </a:prstGeom>
          <a:noFill/>
          <a:ln w="31750">
            <a:solidFill>
              <a:srgbClr val="00476A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</p:pic>
      <p:sp>
        <p:nvSpPr>
          <p:cNvPr id="7" name="כותרת 1"/>
          <p:cNvSpPr txBox="1">
            <a:spLocks/>
          </p:cNvSpPr>
          <p:nvPr/>
        </p:nvSpPr>
        <p:spPr>
          <a:xfrm>
            <a:off x="0" y="58237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7200" dirty="0">
                <a:solidFill>
                  <a:schemeClr val="tx1"/>
                </a:solidFill>
                <a:cs typeface="+mj-cs"/>
              </a:rPr>
              <a:t>היטל </a:t>
            </a:r>
            <a:r>
              <a:rPr lang="en-US" sz="72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UTM</a:t>
            </a:r>
            <a:endParaRPr lang="he-IL" sz="72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8" name="מציין מיקום תוכן 2"/>
          <p:cNvSpPr txBox="1">
            <a:spLocks/>
          </p:cNvSpPr>
          <p:nvPr/>
        </p:nvSpPr>
        <p:spPr>
          <a:xfrm>
            <a:off x="1189265" y="1509414"/>
            <a:ext cx="9813469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 ExtraBold" panose="00000900000000000000" pitchFamily="2" charset="-79"/>
                <a:ea typeface="+mj-ea"/>
                <a:cs typeface="Assistant ExtraBold" panose="00000900000000000000" pitchFamily="2" charset="-79"/>
              </a:rPr>
              <a:t>U</a:t>
            </a:r>
            <a:r>
              <a:rPr lang="en-US" sz="4000" dirty="0">
                <a:latin typeface="Assistant ExtraBold" panose="00000900000000000000" pitchFamily="2" charset="-79"/>
                <a:ea typeface="+mj-ea"/>
                <a:cs typeface="Assistant ExtraBold" panose="00000900000000000000" pitchFamily="2" charset="-79"/>
              </a:rPr>
              <a:t>niversal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 ExtraBold" panose="00000900000000000000" pitchFamily="2" charset="-79"/>
                <a:ea typeface="+mj-ea"/>
                <a:cs typeface="Assistant ExtraBold" panose="00000900000000000000" pitchFamily="2" charset="-79"/>
              </a:rPr>
              <a:t> T</a:t>
            </a:r>
            <a:r>
              <a:rPr lang="en-US" sz="4000" dirty="0">
                <a:latin typeface="Assistant ExtraBold" panose="00000900000000000000" pitchFamily="2" charset="-79"/>
                <a:ea typeface="+mj-ea"/>
                <a:cs typeface="Assistant ExtraBold" panose="00000900000000000000" pitchFamily="2" charset="-79"/>
              </a:rPr>
              <a:t>ransverse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 ExtraBold" panose="00000900000000000000" pitchFamily="2" charset="-79"/>
                <a:ea typeface="+mj-ea"/>
                <a:cs typeface="Assistant ExtraBold" panose="00000900000000000000" pitchFamily="2" charset="-79"/>
              </a:rPr>
              <a:t> M</a:t>
            </a:r>
            <a:r>
              <a:rPr lang="en-US" sz="4000" dirty="0">
                <a:latin typeface="Assistant ExtraBold" panose="00000900000000000000" pitchFamily="2" charset="-79"/>
                <a:ea typeface="+mj-ea"/>
                <a:cs typeface="Assistant ExtraBold" panose="00000900000000000000" pitchFamily="2" charset="-79"/>
              </a:rPr>
              <a:t>ercator</a:t>
            </a:r>
            <a:endParaRPr lang="en-US" sz="3200" dirty="0">
              <a:latin typeface="Arial" panose="020B0604020202020204" pitchFamily="34" charset="0"/>
              <a:cs typeface="Assistant ExtraBold" panose="00000900000000000000" pitchFamily="2" charset="-79"/>
            </a:endParaRPr>
          </a:p>
          <a:p>
            <a:pPr algn="ctr"/>
            <a:r>
              <a:rPr lang="he-IL" sz="3200" dirty="0">
                <a:cs typeface="Assistant ExtraBold" panose="00000900000000000000" pitchFamily="2" charset="-79"/>
              </a:rPr>
              <a:t>שימוש בהיטל גלילי הפוך בכדי לייצג נאמנה את כל העולם.</a:t>
            </a:r>
            <a:endParaRPr lang="en-US" sz="3200" dirty="0">
              <a:cs typeface="Assistant ExtraBold" panose="00000900000000000000" pitchFamily="2" charset="-79"/>
            </a:endParaRPr>
          </a:p>
        </p:txBody>
      </p:sp>
      <p:sp>
        <p:nvSpPr>
          <p:cNvPr id="10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035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תוכן 2"/>
          <p:cNvSpPr txBox="1">
            <a:spLocks/>
          </p:cNvSpPr>
          <p:nvPr/>
        </p:nvSpPr>
        <p:spPr>
          <a:xfrm>
            <a:off x="-214008" y="1644065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3200" dirty="0">
                <a:cs typeface="+mj-cs"/>
              </a:rPr>
              <a:t>רשת קואורדינאטות עולמית המחלקת את כדוה"א ל-</a:t>
            </a:r>
            <a:r>
              <a:rPr lang="en-US" sz="3200" b="1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60</a:t>
            </a:r>
            <a:r>
              <a:rPr lang="he-IL" sz="3200" dirty="0">
                <a:cs typeface="+mj-cs"/>
              </a:rPr>
              <a:t> פלחים.</a:t>
            </a:r>
          </a:p>
          <a:p>
            <a:r>
              <a:rPr lang="he-IL" sz="3200" dirty="0">
                <a:cs typeface="+mj-cs"/>
              </a:rPr>
              <a:t>מכאן שרוחב כל פלח </a:t>
            </a:r>
            <a:r>
              <a:rPr lang="en-US" sz="3200" b="1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6</a:t>
            </a:r>
            <a:r>
              <a:rPr lang="en-US" sz="3200" dirty="0">
                <a:cs typeface="+mj-cs"/>
              </a:rPr>
              <a:t>°</a:t>
            </a:r>
            <a:r>
              <a:rPr lang="he-IL" sz="3200" dirty="0">
                <a:cs typeface="+mj-cs"/>
              </a:rPr>
              <a:t>.</a:t>
            </a:r>
          </a:p>
          <a:p>
            <a:r>
              <a:rPr lang="he-IL" sz="3200" dirty="0">
                <a:cs typeface="+mj-cs"/>
              </a:rPr>
              <a:t>הפלח הראשון מתחיל מקו אורך </a:t>
            </a:r>
            <a:r>
              <a:rPr lang="en-US" sz="3200" b="1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180</a:t>
            </a:r>
            <a:r>
              <a:rPr lang="en-US" sz="3200" dirty="0">
                <a:cs typeface="+mj-cs"/>
              </a:rPr>
              <a:t>°</a:t>
            </a:r>
            <a:r>
              <a:rPr lang="he-IL" sz="3200" dirty="0">
                <a:cs typeface="+mj-cs"/>
              </a:rPr>
              <a:t>.</a:t>
            </a:r>
          </a:p>
          <a:p>
            <a:r>
              <a:rPr lang="he-IL" sz="3200" dirty="0">
                <a:cs typeface="+mj-cs"/>
              </a:rPr>
              <a:t>מכאן שגריניץ' מתחיל בפלח </a:t>
            </a:r>
            <a:r>
              <a:rPr lang="en-US" sz="3200" b="1" dirty="0">
                <a:latin typeface="Assistant ExtraBold" panose="00000900000000000000" pitchFamily="2" charset="-79"/>
                <a:cs typeface="Assistant ExtraBold" panose="00000900000000000000" pitchFamily="2" charset="-79"/>
              </a:rPr>
              <a:t>31</a:t>
            </a:r>
            <a:r>
              <a:rPr lang="he-IL" sz="3200" dirty="0">
                <a:cs typeface="+mj-cs"/>
              </a:rPr>
              <a:t>.</a:t>
            </a:r>
          </a:p>
          <a:p>
            <a:endParaRPr lang="he-IL" sz="3200" dirty="0">
              <a:cs typeface="+mj-cs"/>
            </a:endParaRPr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0" y="58237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7200" dirty="0">
                <a:solidFill>
                  <a:schemeClr val="tx1"/>
                </a:solidFill>
                <a:cs typeface="+mj-cs"/>
              </a:rPr>
              <a:t>היטל </a:t>
            </a:r>
            <a:r>
              <a:rPr lang="en-US" sz="72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UTM</a:t>
            </a:r>
            <a:endParaRPr lang="he-IL" sz="72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4375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3" descr="UTM_Map2.gif"/>
          <p:cNvPicPr>
            <a:picLocks noGrp="1" noChangeAspect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1803748" y="1263493"/>
            <a:ext cx="8407400" cy="51625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sp>
        <p:nvSpPr>
          <p:cNvPr id="8" name="כותרת 1"/>
          <p:cNvSpPr txBox="1">
            <a:spLocks/>
          </p:cNvSpPr>
          <p:nvPr/>
        </p:nvSpPr>
        <p:spPr>
          <a:xfrm>
            <a:off x="0" y="58237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7200" dirty="0">
                <a:solidFill>
                  <a:schemeClr val="tx1"/>
                </a:solidFill>
                <a:cs typeface="+mj-cs"/>
              </a:rPr>
              <a:t>היטל </a:t>
            </a:r>
            <a:r>
              <a:rPr lang="en-US" sz="72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UTM</a:t>
            </a:r>
            <a:endParaRPr lang="he-IL" sz="72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98207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תוכן 2"/>
          <p:cNvSpPr txBox="1">
            <a:spLocks/>
          </p:cNvSpPr>
          <p:nvPr/>
        </p:nvSpPr>
        <p:spPr>
          <a:xfrm>
            <a:off x="0" y="1535155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he-IL" sz="2000" dirty="0">
                <a:cs typeface="Assistant ExtraBold" panose="00000900000000000000" pitchFamily="2" charset="-79"/>
              </a:rPr>
              <a:t>לכל פלח מערכת קואורדינאטות משלו, הזהה לחלוטין לשאר הפלחים</a:t>
            </a:r>
          </a:p>
          <a:p>
            <a:pPr algn="ctr">
              <a:lnSpc>
                <a:spcPct val="150000"/>
              </a:lnSpc>
            </a:pPr>
            <a:r>
              <a:rPr lang="he-IL" sz="2000" dirty="0">
                <a:cs typeface="Assistant ExtraBold" panose="00000900000000000000" pitchFamily="2" charset="-79"/>
              </a:rPr>
              <a:t>ולכן, כאשר נותנים קואורדינאטות של נקודה, יש לציין גם באיזה פלח היא</a:t>
            </a:r>
            <a:endParaRPr lang="en-US" sz="2000" dirty="0">
              <a:cs typeface="Assistant ExtraBold" panose="00000900000000000000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he-IL" sz="2000" dirty="0">
                <a:cs typeface="Assistant ExtraBold" panose="00000900000000000000" pitchFamily="2" charset="-79"/>
              </a:rPr>
              <a:t>בהיטל זה היחידות הן מטריות</a:t>
            </a:r>
          </a:p>
          <a:p>
            <a:pPr algn="ctr">
              <a:lnSpc>
                <a:spcPct val="150000"/>
              </a:lnSpc>
            </a:pPr>
            <a:r>
              <a:rPr lang="he-IL" sz="2000" dirty="0">
                <a:cs typeface="Assistant ExtraBold" panose="00000900000000000000" pitchFamily="2" charset="-79"/>
              </a:rPr>
              <a:t>בכל פלח קווי האורך נעים בטווח הערכים 200,000-800,000</a:t>
            </a:r>
          </a:p>
          <a:p>
            <a:pPr algn="ctr">
              <a:lnSpc>
                <a:spcPct val="150000"/>
              </a:lnSpc>
            </a:pPr>
            <a:r>
              <a:rPr lang="he-IL" sz="2000" dirty="0">
                <a:cs typeface="Assistant ExtraBold" panose="00000900000000000000" pitchFamily="2" charset="-79"/>
              </a:rPr>
              <a:t>עלינו לציין באיזה חצי כדור נמצא </a:t>
            </a:r>
            <a:r>
              <a:rPr lang="he-IL" sz="2000" dirty="0" err="1">
                <a:cs typeface="Assistant ExtraBold" panose="00000900000000000000" pitchFamily="2" charset="-79"/>
              </a:rPr>
              <a:t>הנ"צ</a:t>
            </a:r>
            <a:r>
              <a:rPr lang="he-IL" sz="2000" dirty="0">
                <a:cs typeface="Assistant ExtraBold" panose="00000900000000000000" pitchFamily="2" charset="-79"/>
              </a:rPr>
              <a:t> (דרומי או צפוני)</a:t>
            </a:r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0" y="58237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7200" dirty="0">
                <a:solidFill>
                  <a:schemeClr val="tx1"/>
                </a:solidFill>
                <a:cs typeface="+mj-cs"/>
              </a:rPr>
              <a:t>היטל </a:t>
            </a:r>
            <a:r>
              <a:rPr lang="en-US" sz="7200" dirty="0">
                <a:solidFill>
                  <a:schemeClr val="tx1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UTM</a:t>
            </a:r>
            <a:endParaRPr lang="he-IL" sz="7200" dirty="0">
              <a:solidFill>
                <a:schemeClr val="tx1"/>
              </a:solidFill>
              <a:latin typeface="Assistant ExtraBold" panose="00000900000000000000" pitchFamily="2" charset="-79"/>
              <a:cs typeface="Assistant ExtraBold" panose="00000900000000000000" pitchFamily="2" charset="-79"/>
            </a:endParaRPr>
          </a:p>
        </p:txBody>
      </p:sp>
      <p:sp>
        <p:nvSpPr>
          <p:cNvPr id="9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  <p:pic>
        <p:nvPicPr>
          <p:cNvPr id="34" name="תמונה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545" y="4449146"/>
            <a:ext cx="2564910" cy="175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6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כותרת 1"/>
          <p:cNvSpPr txBox="1">
            <a:spLocks/>
          </p:cNvSpPr>
          <p:nvPr/>
        </p:nvSpPr>
        <p:spPr>
          <a:xfrm>
            <a:off x="0" y="541128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8000" dirty="0">
                <a:solidFill>
                  <a:schemeClr val="tx1"/>
                </a:solidFill>
                <a:cs typeface="Assistant ExtraBold" panose="00000900000000000000" pitchFamily="2" charset="-79"/>
              </a:rPr>
              <a:t>מערכות ייחוס</a:t>
            </a:r>
          </a:p>
        </p:txBody>
      </p:sp>
      <p:sp>
        <p:nvSpPr>
          <p:cNvPr id="11" name="מציין מיקום תוכן 2"/>
          <p:cNvSpPr txBox="1">
            <a:spLocks/>
          </p:cNvSpPr>
          <p:nvPr/>
        </p:nvSpPr>
        <p:spPr>
          <a:xfrm>
            <a:off x="3865475" y="2506662"/>
            <a:ext cx="6366050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>
                <a:cs typeface="Assistant ExtraBold" panose="00000900000000000000" pitchFamily="2" charset="-79"/>
              </a:rPr>
              <a:t>לא ניתן לדבר על קואורדינאטות של נקודה בלי שנדע מהו </a:t>
            </a:r>
            <a:r>
              <a:rPr lang="he-IL" dirty="0" err="1">
                <a:cs typeface="Assistant ExtraBold" panose="00000900000000000000" pitchFamily="2" charset="-79"/>
              </a:rPr>
              <a:t>הדאטום</a:t>
            </a:r>
            <a:r>
              <a:rPr lang="he-IL" dirty="0">
                <a:cs typeface="Assistant ExtraBold" panose="00000900000000000000" pitchFamily="2" charset="-79"/>
              </a:rPr>
              <a:t> + ההיטל שלה. </a:t>
            </a:r>
            <a:br>
              <a:rPr lang="en-US" dirty="0">
                <a:cs typeface="Assistant ExtraBold" panose="00000900000000000000" pitchFamily="2" charset="-79"/>
              </a:rPr>
            </a:br>
            <a:r>
              <a:rPr lang="he-IL" dirty="0">
                <a:cs typeface="Assistant ExtraBold" panose="00000900000000000000" pitchFamily="2" charset="-79"/>
              </a:rPr>
              <a:t>השילוב ביניהם נקרא "מערכת ייחוס</a:t>
            </a:r>
            <a:r>
              <a:rPr lang="en-US" dirty="0">
                <a:cs typeface="Assistant ExtraBold" panose="00000900000000000000" pitchFamily="2" charset="-79"/>
              </a:rPr>
              <a:t> </a:t>
            </a:r>
            <a:r>
              <a:rPr lang="he-IL" dirty="0">
                <a:cs typeface="Assistant ExtraBold" panose="00000900000000000000" pitchFamily="2" charset="-79"/>
              </a:rPr>
              <a:t>".</a:t>
            </a:r>
          </a:p>
          <a:p>
            <a:pPr algn="ctr"/>
            <a:endParaRPr lang="en-US" dirty="0">
              <a:cs typeface="Assistant ExtraBold" panose="00000900000000000000" pitchFamily="2" charset="-79"/>
            </a:endParaRPr>
          </a:p>
        </p:txBody>
      </p:sp>
      <p:sp>
        <p:nvSpPr>
          <p:cNvPr id="13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404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13" y="2589814"/>
            <a:ext cx="3467100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D:\מצגת גיאודזיה\azimuth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370" y="2422226"/>
            <a:ext cx="3541725" cy="3411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כותרת 1"/>
          <p:cNvSpPr txBox="1">
            <a:spLocks/>
          </p:cNvSpPr>
          <p:nvPr/>
        </p:nvSpPr>
        <p:spPr>
          <a:xfrm>
            <a:off x="0" y="604968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9600" dirty="0">
                <a:solidFill>
                  <a:schemeClr val="tx1"/>
                </a:solidFill>
                <a:cs typeface="Assistant ExtraBold" panose="00000900000000000000" pitchFamily="2" charset="-79"/>
              </a:rPr>
              <a:t>אזימוט</a:t>
            </a:r>
          </a:p>
        </p:txBody>
      </p:sp>
      <p:sp>
        <p:nvSpPr>
          <p:cNvPr id="9" name="מציין מיקום תוכן 2"/>
          <p:cNvSpPr txBox="1">
            <a:spLocks/>
          </p:cNvSpPr>
          <p:nvPr/>
        </p:nvSpPr>
        <p:spPr>
          <a:xfrm>
            <a:off x="325514" y="1482641"/>
            <a:ext cx="11540971" cy="435133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3200" dirty="0">
                <a:cs typeface="Assistant ExtraBold" panose="00000900000000000000" pitchFamily="2" charset="-79"/>
              </a:rPr>
              <a:t>הגדרה – הזווית הנמדדת (עם כיוון השעון) מהצפון אל מטרה</a:t>
            </a:r>
            <a:r>
              <a:rPr lang="en-US" sz="3200" dirty="0">
                <a:cs typeface="Assistant ExtraBold" panose="00000900000000000000" pitchFamily="2" charset="-79"/>
              </a:rPr>
              <a:t> </a:t>
            </a:r>
            <a:r>
              <a:rPr lang="he-IL" sz="3200" dirty="0">
                <a:cs typeface="Assistant ExtraBold" panose="00000900000000000000" pitchFamily="2" charset="-79"/>
              </a:rPr>
              <a:t>מסוימת.</a:t>
            </a:r>
          </a:p>
        </p:txBody>
      </p:sp>
      <p:sp>
        <p:nvSpPr>
          <p:cNvPr id="11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8077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57326" y="1290226"/>
            <a:ext cx="10877348" cy="489364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 rtl="1">
              <a:defRPr/>
            </a:pPr>
            <a:r>
              <a:rPr lang="he-IL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David" pitchFamily="2" charset="-79"/>
                <a:cs typeface="Assistant ExtraBold" panose="00000900000000000000" pitchFamily="2" charset="-79"/>
              </a:rPr>
              <a:t>אזימוט הוא זווית הנמדדת עם כיוון השעון מכיוון ייחוס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David" pitchFamily="2" charset="-79"/>
                <a:cs typeface="Assistant ExtraBold" panose="00000900000000000000" pitchFamily="2" charset="-79"/>
              </a:rPr>
              <a:t> </a:t>
            </a:r>
          </a:p>
          <a:p>
            <a:pPr algn="ctr" rtl="1">
              <a:defRPr/>
            </a:pPr>
            <a:r>
              <a:rPr lang="he-IL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David" pitchFamily="2" charset="-79"/>
                <a:cs typeface="Assistant ExtraBold" panose="00000900000000000000" pitchFamily="2" charset="-79"/>
              </a:rPr>
              <a:t>מסוים (צפון), אל המטרה. כיוון הייחוס קובע את סוג האזימוט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David" pitchFamily="2" charset="-79"/>
                <a:cs typeface="Assistant ExtraBold" panose="00000900000000000000" pitchFamily="2" charset="-79"/>
              </a:rPr>
              <a:t>.</a:t>
            </a:r>
            <a:endParaRPr lang="en-US" sz="2400" b="1" dirty="0">
              <a:latin typeface="David" pitchFamily="2" charset="-79"/>
              <a:cs typeface="Assistant ExtraBold" panose="00000900000000000000" pitchFamily="2" charset="-79"/>
            </a:endParaRPr>
          </a:p>
          <a:p>
            <a:pPr algn="ctr" rtl="1">
              <a:defRPr/>
            </a:pPr>
            <a:endParaRPr lang="en-US" sz="2400" dirty="0">
              <a:cs typeface="Assistant ExtraBold" panose="00000900000000000000" pitchFamily="2" charset="-79"/>
            </a:endParaRPr>
          </a:p>
          <a:p>
            <a:pPr algn="ctr" rtl="1">
              <a:defRPr/>
            </a:pPr>
            <a:r>
              <a:rPr lang="he-IL" sz="2400" b="1" u="sng" dirty="0">
                <a:latin typeface="David" pitchFamily="2" charset="-79"/>
                <a:cs typeface="Assistant ExtraBold" panose="00000900000000000000" pitchFamily="2" charset="-79"/>
              </a:rPr>
              <a:t>אזימוט גיאוגרפי</a:t>
            </a:r>
            <a:r>
              <a:rPr lang="he-IL" sz="2400" dirty="0">
                <a:cs typeface="Assistant ExtraBold" panose="00000900000000000000" pitchFamily="2" charset="-79"/>
              </a:rPr>
              <a:t> - מיוחס לקו אורך (אסטרונומי - הכיוון לקוטב הצפוני)</a:t>
            </a:r>
            <a:r>
              <a:rPr lang="en-US" sz="2400" dirty="0">
                <a:cs typeface="Assistant ExtraBold" panose="00000900000000000000" pitchFamily="2" charset="-79"/>
              </a:rPr>
              <a:t> </a:t>
            </a:r>
          </a:p>
          <a:p>
            <a:pPr algn="ctr" rtl="1">
              <a:defRPr/>
            </a:pPr>
            <a:r>
              <a:rPr lang="he-IL" sz="2400" dirty="0">
                <a:cs typeface="Assistant ExtraBold" panose="00000900000000000000" pitchFamily="2" charset="-79"/>
              </a:rPr>
              <a:t>נמדד ישירות בג'יירו ובשיטות אסטרונומיות ואפשר לחשבו מקואורדינטות</a:t>
            </a:r>
            <a:r>
              <a:rPr lang="en-US" sz="2400" dirty="0">
                <a:cs typeface="Assistant ExtraBold" panose="00000900000000000000" pitchFamily="2" charset="-79"/>
              </a:rPr>
              <a:t>.</a:t>
            </a:r>
          </a:p>
          <a:p>
            <a:pPr algn="ctr" rtl="1">
              <a:defRPr/>
            </a:pPr>
            <a:r>
              <a:rPr lang="he-IL" sz="2400" dirty="0">
                <a:cs typeface="Assistant ExtraBold" panose="00000900000000000000" pitchFamily="2" charset="-79"/>
              </a:rPr>
              <a:t>אינו תלוי בדאטום או בהיטל - האזימוט האמיתי הקשור לכדור הארץ</a:t>
            </a:r>
            <a:r>
              <a:rPr lang="en-US" sz="2400" dirty="0">
                <a:cs typeface="Assistant ExtraBold" panose="00000900000000000000" pitchFamily="2" charset="-79"/>
              </a:rPr>
              <a:t>.</a:t>
            </a:r>
          </a:p>
          <a:p>
            <a:pPr algn="ctr" rtl="1">
              <a:defRPr/>
            </a:pPr>
            <a:endParaRPr lang="en-US" sz="2400" dirty="0">
              <a:cs typeface="Assistant ExtraBold" panose="00000900000000000000" pitchFamily="2" charset="-79"/>
            </a:endParaRPr>
          </a:p>
          <a:p>
            <a:pPr algn="ctr" rtl="1">
              <a:defRPr/>
            </a:pPr>
            <a:r>
              <a:rPr lang="he-IL" sz="2400" b="1" u="sng" dirty="0">
                <a:latin typeface="David" pitchFamily="2" charset="-79"/>
                <a:cs typeface="Assistant ExtraBold" panose="00000900000000000000" pitchFamily="2" charset="-79"/>
              </a:rPr>
              <a:t>אזימוט רשת</a:t>
            </a:r>
            <a:r>
              <a:rPr lang="he-IL" sz="2400" dirty="0">
                <a:cs typeface="Assistant ExtraBold" panose="00000900000000000000" pitchFamily="2" charset="-79"/>
              </a:rPr>
              <a:t> - מיוחס לקווי הצפון ברשת ההיטל (קואורדינטות "מזרחיות"</a:t>
            </a:r>
            <a:r>
              <a:rPr lang="en-US" sz="2400" dirty="0">
                <a:cs typeface="Assistant ExtraBold" panose="00000900000000000000" pitchFamily="2" charset="-79"/>
              </a:rPr>
              <a:t>.</a:t>
            </a:r>
            <a:r>
              <a:rPr lang="he-IL" sz="2400" dirty="0">
                <a:cs typeface="Assistant ExtraBold" panose="00000900000000000000" pitchFamily="2" charset="-79"/>
              </a:rPr>
              <a:t>) אין אפשרות למדוד אותו ישירות, אלא רק לחשבו מקואורדינטות</a:t>
            </a:r>
            <a:r>
              <a:rPr lang="en-US" sz="2400" dirty="0">
                <a:cs typeface="Assistant ExtraBold" panose="00000900000000000000" pitchFamily="2" charset="-79"/>
              </a:rPr>
              <a:t>.</a:t>
            </a:r>
          </a:p>
          <a:p>
            <a:pPr algn="ctr" rtl="1">
              <a:defRPr/>
            </a:pPr>
            <a:r>
              <a:rPr lang="he-IL" sz="2400" dirty="0">
                <a:cs typeface="Assistant ExtraBold" panose="00000900000000000000" pitchFamily="2" charset="-79"/>
              </a:rPr>
              <a:t>משתנה לפי הדאטום וההיטל</a:t>
            </a:r>
            <a:r>
              <a:rPr lang="en-US" sz="2400" dirty="0">
                <a:cs typeface="Assistant ExtraBold" panose="00000900000000000000" pitchFamily="2" charset="-79"/>
              </a:rPr>
              <a:t>.</a:t>
            </a:r>
          </a:p>
          <a:p>
            <a:pPr algn="ctr" rtl="1">
              <a:defRPr/>
            </a:pPr>
            <a:endParaRPr lang="en-US" sz="2400" dirty="0">
              <a:cs typeface="Assistant ExtraBold" panose="00000900000000000000" pitchFamily="2" charset="-79"/>
            </a:endParaRPr>
          </a:p>
          <a:p>
            <a:pPr algn="ctr" rtl="1">
              <a:defRPr/>
            </a:pPr>
            <a:r>
              <a:rPr lang="he-IL" sz="2400" b="1" u="sng" dirty="0">
                <a:latin typeface="David" pitchFamily="2" charset="-79"/>
                <a:cs typeface="Assistant ExtraBold" panose="00000900000000000000" pitchFamily="2" charset="-79"/>
              </a:rPr>
              <a:t>אזימוט מגנטי</a:t>
            </a:r>
            <a:r>
              <a:rPr lang="he-IL" sz="2400" dirty="0">
                <a:cs typeface="Assistant ExtraBold" panose="00000900000000000000" pitchFamily="2" charset="-79"/>
              </a:rPr>
              <a:t> - מיוחס לקוטב המגנטי הארצי (שאינו מתלכד עם הקוטב הצפוני)</a:t>
            </a:r>
            <a:endParaRPr lang="en-US" sz="2400" dirty="0">
              <a:cs typeface="Assistant ExtraBold" panose="00000900000000000000" pitchFamily="2" charset="-79"/>
            </a:endParaRPr>
          </a:p>
          <a:p>
            <a:pPr algn="ctr" rtl="1">
              <a:defRPr/>
            </a:pPr>
            <a:r>
              <a:rPr lang="he-IL" sz="2400" dirty="0">
                <a:cs typeface="Assistant ExtraBold" panose="00000900000000000000" pitchFamily="2" charset="-79"/>
              </a:rPr>
              <a:t>נמדד ישירות במצפן. אינו מדויק, עקב הפרעות מקומיות ונדידת הקוטב המגנטי</a:t>
            </a:r>
            <a:r>
              <a:rPr lang="en-US" sz="2400" dirty="0">
                <a:cs typeface="Assistant ExtraBold" panose="00000900000000000000" pitchFamily="2" charset="-79"/>
              </a:rPr>
              <a:t>.</a:t>
            </a:r>
          </a:p>
        </p:txBody>
      </p:sp>
      <p:sp>
        <p:nvSpPr>
          <p:cNvPr id="7" name="כותרת 1"/>
          <p:cNvSpPr txBox="1">
            <a:spLocks/>
          </p:cNvSpPr>
          <p:nvPr/>
        </p:nvSpPr>
        <p:spPr>
          <a:xfrm>
            <a:off x="0" y="417007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7200" dirty="0">
                <a:solidFill>
                  <a:schemeClr val="tx1"/>
                </a:solidFill>
                <a:cs typeface="Assistant ExtraBold" panose="00000900000000000000" pitchFamily="2" charset="-79"/>
              </a:rPr>
              <a:t>אזימוטים וסוגי צפון</a:t>
            </a:r>
          </a:p>
        </p:txBody>
      </p:sp>
      <p:sp>
        <p:nvSpPr>
          <p:cNvPr id="5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42186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azim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325" y="1976173"/>
            <a:ext cx="4461905" cy="352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619124"/>
              </p:ext>
            </p:extLst>
          </p:nvPr>
        </p:nvGraphicFramePr>
        <p:xfrm>
          <a:off x="7402930" y="1859442"/>
          <a:ext cx="1581959" cy="3755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286256" imgH="3442716" progId="Word.Document.8">
                  <p:embed/>
                </p:oleObj>
              </mc:Choice>
              <mc:Fallback>
                <p:oleObj name="Document" r:id="rId3" imgW="1286256" imgH="3442716" progId="Word.Document.8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2930" y="1859442"/>
                        <a:ext cx="1581959" cy="3755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כותרת 1"/>
          <p:cNvSpPr txBox="1">
            <a:spLocks/>
          </p:cNvSpPr>
          <p:nvPr/>
        </p:nvSpPr>
        <p:spPr>
          <a:xfrm>
            <a:off x="0" y="702638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7200" dirty="0">
                <a:solidFill>
                  <a:schemeClr val="tx1"/>
                </a:solidFill>
                <a:cs typeface="Assistant ExtraBold" panose="00000900000000000000" pitchFamily="2" charset="-79"/>
              </a:rPr>
              <a:t>אזימוטים וסוגי צפון</a:t>
            </a:r>
          </a:p>
        </p:txBody>
      </p:sp>
      <p:sp>
        <p:nvSpPr>
          <p:cNvPr id="12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57237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51;p24"/>
          <p:cNvSpPr/>
          <p:nvPr/>
        </p:nvSpPr>
        <p:spPr>
          <a:xfrm rot="-5400000">
            <a:off x="5286840" y="-1548862"/>
            <a:ext cx="1809885" cy="4272580"/>
          </a:xfrm>
          <a:custGeom>
            <a:avLst/>
            <a:gdLst/>
            <a:ahLst/>
            <a:cxnLst/>
            <a:rect l="l" t="t" r="r" b="b"/>
            <a:pathLst>
              <a:path w="37804" h="75749" extrusionOk="0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l" rtl="0"/>
            <a:endParaRPr sz="3200"/>
          </a:p>
        </p:txBody>
      </p:sp>
      <p:sp>
        <p:nvSpPr>
          <p:cNvPr id="7" name="Google Shape;163;p25"/>
          <p:cNvSpPr txBox="1">
            <a:spLocks/>
          </p:cNvSpPr>
          <p:nvPr/>
        </p:nvSpPr>
        <p:spPr>
          <a:xfrm>
            <a:off x="4567233" y="311272"/>
            <a:ext cx="3249103" cy="850080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5333" b="1" dirty="0"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לסיכום</a:t>
            </a:r>
            <a:endParaRPr lang="en-US" sz="5333" b="1" dirty="0"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0" name="Google Shape;163;p25"/>
          <p:cNvSpPr txBox="1">
            <a:spLocks/>
          </p:cNvSpPr>
          <p:nvPr/>
        </p:nvSpPr>
        <p:spPr>
          <a:xfrm>
            <a:off x="4490359" y="1"/>
            <a:ext cx="3211283" cy="587428"/>
          </a:xfrm>
          <a:prstGeom prst="rect">
            <a:avLst/>
          </a:prstGeom>
        </p:spPr>
        <p:txBody>
          <a:bodyPr spcFirstLastPara="1" vert="horz" wrap="square" lIns="162533" tIns="162533" rIns="162533" bIns="162533" rtlCol="1" anchor="t" anchorCtr="0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e-IL" sz="1867" b="1" dirty="0">
                <a:latin typeface="Assistant" panose="00000500000000000000" pitchFamily="2" charset="-79"/>
                <a:cs typeface="Assistant" panose="00000500000000000000" pitchFamily="2" charset="-79"/>
              </a:rPr>
              <a:t>-בלמ"ס-</a:t>
            </a:r>
            <a:endParaRPr lang="en-US" sz="1867" b="1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כותרת משנה 4">
            <a:extLst>
              <a:ext uri="{FF2B5EF4-FFF2-40B4-BE49-F238E27FC236}">
                <a16:creationId xmlns:a16="http://schemas.microsoft.com/office/drawing/2014/main" id="{3FAA42F0-423B-49FF-870F-EAF69E02B025}"/>
              </a:ext>
            </a:extLst>
          </p:cNvPr>
          <p:cNvSpPr txBox="1">
            <a:spLocks/>
          </p:cNvSpPr>
          <p:nvPr/>
        </p:nvSpPr>
        <p:spPr>
          <a:xfrm>
            <a:off x="607875" y="1081378"/>
            <a:ext cx="9829837" cy="469524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3970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+mn-cs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2"/>
              </a:buClr>
              <a:buSzPts val="1100"/>
            </a:pPr>
            <a:endParaRPr lang="en-US" sz="2667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he-IL" sz="2800" dirty="0">
                <a:cs typeface="Assistant ExtraBold" panose="00000900000000000000" pitchFamily="2" charset="-79"/>
              </a:rPr>
              <a:t>גיאודזיה הוא תחום מדעי העוסק במיפוי ובקביעת מיקום נקודות ועצמים על פני כדור הארץ</a:t>
            </a:r>
          </a:p>
          <a:p>
            <a:pPr marL="304792" indent="-304792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he-IL" sz="2800" dirty="0"/>
              <a:t>גופי ייחוס מרחביים  - גופים שצורתם קרובה לכדור הארץ, שעליהם נגדיר את מערכת הצירים ועל בסיסם נערוך מדידות לצרכים שונים.</a:t>
            </a:r>
          </a:p>
          <a:p>
            <a:pPr marL="304792" indent="-304792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he-IL" sz="2800" dirty="0"/>
              <a:t>היטל – מעבר מעולם תלת ממדי לדו </a:t>
            </a:r>
            <a:r>
              <a:rPr lang="he-IL" sz="2800" dirty="0" err="1"/>
              <a:t>מימדי</a:t>
            </a:r>
            <a:r>
              <a:rPr lang="he-IL" sz="2800" dirty="0"/>
              <a:t>.</a:t>
            </a:r>
          </a:p>
          <a:p>
            <a:pPr marL="304792" indent="-304792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he-IL" sz="2800" dirty="0"/>
              <a:t>אזימוט הוא זווית הנמדדת עם כיוון השעון מכיוון ייחוס מסווים (צפון), אל המטרה. כיוון הייחוס קובע את סוג האזימוט.</a:t>
            </a:r>
          </a:p>
          <a:p>
            <a:pPr marL="0">
              <a:lnSpc>
                <a:spcPct val="150000"/>
              </a:lnSpc>
              <a:buSzPct val="100000"/>
            </a:pPr>
            <a:endParaRPr lang="he-IL" sz="2800" dirty="0"/>
          </a:p>
          <a:p>
            <a:pPr marL="304792" indent="-304792">
              <a:lnSpc>
                <a:spcPct val="150000"/>
              </a:lnSpc>
              <a:buSzPct val="100000"/>
              <a:buFont typeface="+mj-lt"/>
              <a:buAutoNum type="arabicPeriod"/>
            </a:pPr>
            <a:endParaRPr lang="he-IL" sz="2800" dirty="0"/>
          </a:p>
          <a:p>
            <a:pPr marL="304792" indent="-304792">
              <a:lnSpc>
                <a:spcPct val="150000"/>
              </a:lnSpc>
              <a:buSzPct val="100000"/>
              <a:buFont typeface="+mj-lt"/>
              <a:buAutoNum type="arabicPeriod"/>
            </a:pPr>
            <a:endParaRPr lang="he-IL" sz="2800" dirty="0"/>
          </a:p>
          <a:p>
            <a:pPr marL="304792" indent="-304792">
              <a:lnSpc>
                <a:spcPct val="150000"/>
              </a:lnSpc>
              <a:buSzPct val="100000"/>
              <a:buFont typeface="+mj-lt"/>
              <a:buAutoNum type="arabicPeriod"/>
            </a:pPr>
            <a:endParaRPr lang="he-IL" sz="2667" dirty="0">
              <a:solidFill>
                <a:schemeClr val="tx1"/>
              </a:solidFill>
              <a:latin typeface="+mn-lt"/>
              <a:cs typeface="ASSISTANT" panose="00000500000000000000" pitchFamily="2" charset="-79"/>
            </a:endParaRPr>
          </a:p>
          <a:p>
            <a:pPr marL="0">
              <a:lnSpc>
                <a:spcPct val="150000"/>
              </a:lnSpc>
              <a:buSzPct val="100000"/>
            </a:pPr>
            <a:endParaRPr lang="he-IL" sz="2667" dirty="0">
              <a:solidFill>
                <a:schemeClr val="tx1"/>
              </a:solidFill>
              <a:latin typeface="+mn-lt"/>
              <a:cs typeface="ASSISTANT" panose="00000500000000000000" pitchFamily="2" charset="-79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1"/>
          <p:cNvSpPr txBox="1">
            <a:spLocks/>
          </p:cNvSpPr>
          <p:nvPr/>
        </p:nvSpPr>
        <p:spPr>
          <a:xfrm>
            <a:off x="0" y="3021829"/>
            <a:ext cx="12192000" cy="631049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184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pPr algn="ctr"/>
            <a:r>
              <a:rPr lang="he-IL" sz="13800" dirty="0">
                <a:solidFill>
                  <a:schemeClr val="tx1"/>
                </a:solidFill>
                <a:effectLst/>
                <a:cs typeface="Assistant ExtraBold" panose="00000900000000000000" pitchFamily="2" charset="-79"/>
              </a:rPr>
              <a:t>שאלות?</a:t>
            </a:r>
          </a:p>
        </p:txBody>
      </p:sp>
      <p:sp>
        <p:nvSpPr>
          <p:cNvPr id="5" name="כותרת משנה 2"/>
          <p:cNvSpPr txBox="1">
            <a:spLocks/>
          </p:cNvSpPr>
          <p:nvPr/>
        </p:nvSpPr>
        <p:spPr>
          <a:xfrm>
            <a:off x="0" y="6426043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1400" dirty="0">
                <a:cs typeface="Assistant ExtraBold" panose="00000900000000000000" pitchFamily="2" charset="-79"/>
              </a:rPr>
              <a:t>-בלמ"ס-</a:t>
            </a:r>
            <a:endParaRPr lang="he-IL" sz="1100" dirty="0">
              <a:cs typeface="Assistant ExtraBold" panose="000009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999848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6">
  <a:themeElements>
    <a:clrScheme name="צהוב ירוק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התאמה אישית ASSISTANT">
      <a:majorFont>
        <a:latin typeface="Assistant ExtraBold"/>
        <a:ea typeface=""/>
        <a:cs typeface="Assistant ExtraBold"/>
      </a:majorFont>
      <a:minorFont>
        <a:latin typeface="Assistant"/>
        <a:ea typeface=""/>
        <a:cs typeface="Assistan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spcFirstLastPara="1" vert="horz" wrap="square" lIns="121900" tIns="121900" rIns="121900" bIns="121900" rtlCol="1" anchor="t" anchorCtr="0">
        <a:noAutofit/>
      </a:bodyPr>
      <a:lstStyle>
        <a:defPPr algn="l" rtl="0">
          <a:lnSpc>
            <a:spcPct val="100000"/>
          </a:lnSpc>
          <a:defRPr sz="1600" b="1" dirty="0" smtClean="0">
            <a:latin typeface="Assistant" panose="00000500000000000000" pitchFamily="2" charset="-79"/>
            <a:cs typeface="Assistant" panose="00000500000000000000" pitchFamily="2" charset="-79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ערכת נושא 6" id="{8D19CE54-228C-477C-88CB-021863CFADC7}" vid="{952FCF2E-9A2D-4BCE-896F-A77B81E3D14F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ערכת נושא 6</Template>
  <TotalTime>1021</TotalTime>
  <Words>671</Words>
  <Application>Microsoft Office PowerPoint</Application>
  <PresentationFormat>Widescreen</PresentationFormat>
  <Paragraphs>152</Paragraphs>
  <Slides>22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ערכת נושא 6</vt:lpstr>
      <vt:lpstr>מבוא לגיאודזיה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Sapir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לגיאודזיה</dc:title>
  <dc:creator>בהד 15/‏מודיעין השטח/‏סגל/‏מיפוי וגיאו- אינפורמציה/‏קורס מיפוי/‏מפקד 1 מס - ישי בלש</dc:creator>
  <cp:lastModifiedBy>yuvaliki10@gmail.com</cp:lastModifiedBy>
  <cp:revision>61</cp:revision>
  <dcterms:created xsi:type="dcterms:W3CDTF">2018-03-13T14:59:06Z</dcterms:created>
  <dcterms:modified xsi:type="dcterms:W3CDTF">2026-10-04T11:52:27Z</dcterms:modified>
</cp:coreProperties>
</file>